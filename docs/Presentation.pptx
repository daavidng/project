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6"/>
  </p:notesMasterIdLst>
  <p:sldIdLst>
    <p:sldId id="261" r:id="rId5"/>
    <p:sldId id="263" r:id="rId6"/>
    <p:sldId id="264" r:id="rId7"/>
    <p:sldId id="266" r:id="rId8"/>
    <p:sldId id="265" r:id="rId9"/>
    <p:sldId id="267" r:id="rId10"/>
    <p:sldId id="268" r:id="rId11"/>
    <p:sldId id="269" r:id="rId12"/>
    <p:sldId id="270" r:id="rId13"/>
    <p:sldId id="271"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9" autoAdjust="0"/>
    <p:restoredTop sz="83467" autoAdjust="0"/>
  </p:normalViewPr>
  <p:slideViewPr>
    <p:cSldViewPr snapToGrid="0">
      <p:cViewPr varScale="1">
        <p:scale>
          <a:sx n="101" d="100"/>
          <a:sy n="101" d="100"/>
        </p:scale>
        <p:origin x="130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9/28/2025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Good morning Prof. Dr. Raja and Prof. Dr. Sivakumar, today I would like present my research on “</a:t>
            </a:r>
            <a:r>
              <a:rPr lang="en-US" dirty="0"/>
              <a:t>Self-Supervised Few-Shot Reinforcement Learning for Scalable and Adaptive Anomaly Detection in Edge-Based Industrial IoT Systems”.</a:t>
            </a:r>
          </a:p>
          <a:p>
            <a:r>
              <a:rPr lang="en-US" dirty="0"/>
              <a:t>The reason I chose this topic is because I am working in a quality manufacturing industry, as an AI software engineer, I wish to leverage my skillset and knowledge learned from my master degree in AI, </a:t>
            </a:r>
          </a:p>
          <a:p>
            <a:r>
              <a:rPr lang="en-US" dirty="0"/>
              <a:t>apply that to solve business problem with the research I have been working on since January this year. </a:t>
            </a:r>
          </a:p>
          <a:p>
            <a:r>
              <a:rPr lang="en-US" dirty="0"/>
              <a:t>I will go through the entire research at a high-level view, so if you have any questions, feel free to stop me.</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1</a:t>
            </a:fld>
            <a:endParaRPr lang="en-US" dirty="0"/>
          </a:p>
        </p:txBody>
      </p:sp>
    </p:spTree>
    <p:extLst>
      <p:ext uri="{BB962C8B-B14F-4D97-AF65-F5344CB8AC3E}">
        <p14:creationId xmlns:p14="http://schemas.microsoft.com/office/powerpoint/2010/main" val="1643507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Industrial Internet of Things, or IIoT, has transformed modern manufacturing and industrial operations. With thousands of sensors and devices connected, industries now benefit from real-time monitoring and faster decision-making at the edge.</a:t>
            </a:r>
          </a:p>
          <a:p>
            <a:r>
              <a:rPr lang="en-US" dirty="0"/>
              <a:t>However, this growth also introduces challenges. Anomalies such as equipment breakdowns, faulty sensors, or even cyber-attacks can severely disrupt operations, leading to downtime and increased costs.</a:t>
            </a:r>
          </a:p>
          <a:p>
            <a:r>
              <a:rPr lang="en-US" dirty="0"/>
              <a:t>Traditional anomaly detection techniques are no longer sufficient. They rely heavily on large labeled datasets, which are expensive and difficult to obtain in industrial environments. Most of these models are also designed for centralized systems, which introduces latency and makes them unsuitable for edge devices that require quick, on-site decisions. Finally, they often struggle to adapt to dynamic and evolving anomalies that frequently occur in real-world settings.</a:t>
            </a:r>
          </a:p>
          <a:p>
            <a:r>
              <a:rPr lang="en-US" dirty="0"/>
              <a:t>This sets the stage for my research, which aims to develop a more scalable, data-efficient, and adaptive solution for anomaly detection in IIoT."*</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2</a:t>
            </a:fld>
            <a:endParaRPr lang="en-US" dirty="0"/>
          </a:p>
        </p:txBody>
      </p:sp>
    </p:spTree>
    <p:extLst>
      <p:ext uri="{BB962C8B-B14F-4D97-AF65-F5344CB8AC3E}">
        <p14:creationId xmlns:p14="http://schemas.microsoft.com/office/powerpoint/2010/main" val="284659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progress made in anomaly detection, several major challenges remain in industrial IoT environments.</a:t>
            </a:r>
          </a:p>
          <a:p>
            <a:r>
              <a:rPr lang="en-US" dirty="0"/>
              <a:t>First, most existing methods depend heavily on large labeled datasets. But in industry, anomalies such as equipment failures or cyber-attacks are rare and context-specific. Labeling them is both costly and impractical, which makes these approaches very difficult to scale.</a:t>
            </a:r>
          </a:p>
          <a:p>
            <a:r>
              <a:rPr lang="en-US" dirty="0"/>
              <a:t>Second, many models are designed for centralized cloud-based systems. While effective in some cases, they introduce high latency and require significant computational resources. This makes them unsuitable for edge devices, which need fast and lightweight solutions.</a:t>
            </a:r>
          </a:p>
          <a:p>
            <a:r>
              <a:rPr lang="en-US" dirty="0"/>
              <a:t>Finally, traditional models are usually static. They are trained once on historical data and cannot easily adapt to new patterns or evolving industrial processes. Over time, this reduces their reliability and detection accuracy.</a:t>
            </a:r>
          </a:p>
          <a:p>
            <a:r>
              <a:rPr lang="en-US" dirty="0"/>
              <a:t>These limitations highlight the urgent need for a data-efficient, scalable, and adaptive framework for anomaly detection in IIoT."*</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3</a:t>
            </a:fld>
            <a:endParaRPr lang="en-US" dirty="0"/>
          </a:p>
        </p:txBody>
      </p:sp>
    </p:spTree>
    <p:extLst>
      <p:ext uri="{BB962C8B-B14F-4D97-AF65-F5344CB8AC3E}">
        <p14:creationId xmlns:p14="http://schemas.microsoft.com/office/powerpoint/2010/main" val="1669528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0FC7-E430-FFFE-DD71-D16EFDFDC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1E092-57D9-824C-C5F0-DEC5091F9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A700C-D8EC-12B7-B9A0-58E48E83A3B7}"/>
              </a:ext>
            </a:extLst>
          </p:cNvPr>
          <p:cNvSpPr>
            <a:spLocks noGrp="1"/>
          </p:cNvSpPr>
          <p:nvPr>
            <p:ph type="body" idx="1"/>
          </p:nvPr>
        </p:nvSpPr>
        <p:spPr/>
        <p:txBody>
          <a:bodyPr/>
          <a:lstStyle/>
          <a:p>
            <a:r>
              <a:rPr lang="en-US" dirty="0"/>
              <a:t>*"To guide this study, I focused on several key research questions.</a:t>
            </a:r>
          </a:p>
          <a:p>
            <a:r>
              <a:rPr lang="en-US" dirty="0"/>
              <a:t>First, I asked how self-supervised learning and few-shot reinforcement learning can be combined to improve anomaly detection in edge-based IIoT systems.</a:t>
            </a:r>
          </a:p>
          <a:p>
            <a:r>
              <a:rPr lang="en-US" dirty="0"/>
              <a:t>Second, I explored how the framework can identify both new and evolving anomalies while using only minimal labeled data.</a:t>
            </a:r>
          </a:p>
          <a:p>
            <a:r>
              <a:rPr lang="en-US" dirty="0"/>
              <a:t>Third, I considered what approaches are needed to make the framework scalable and efficient, particularly when running on resource-constrained edge devices.</a:t>
            </a:r>
          </a:p>
          <a:p>
            <a:r>
              <a:rPr lang="en-US" dirty="0"/>
              <a:t>Fourth, I compared the proposed method against conventional anomaly detection techniques, looking at accuracy, latency, and flexibility.</a:t>
            </a:r>
          </a:p>
          <a:p>
            <a:r>
              <a:rPr lang="en-US" dirty="0"/>
              <a:t>And finally, I asked who benefits most from such a framework in real-world industrial applications, and how it enhances overall system performance.</a:t>
            </a:r>
          </a:p>
          <a:p>
            <a:r>
              <a:rPr lang="en-US" dirty="0"/>
              <a:t>These questions form the backbone of the research and set the direction for the methodology and experiments."*</a:t>
            </a:r>
          </a:p>
        </p:txBody>
      </p:sp>
      <p:sp>
        <p:nvSpPr>
          <p:cNvPr id="4" name="Slide Number Placeholder 3">
            <a:extLst>
              <a:ext uri="{FF2B5EF4-FFF2-40B4-BE49-F238E27FC236}">
                <a16:creationId xmlns:a16="http://schemas.microsoft.com/office/drawing/2014/main" id="{36D4CB8F-490E-AF0A-EB0F-F47AE4544B6C}"/>
              </a:ext>
            </a:extLst>
          </p:cNvPr>
          <p:cNvSpPr>
            <a:spLocks noGrp="1"/>
          </p:cNvSpPr>
          <p:nvPr>
            <p:ph type="sldNum" sz="quarter" idx="5"/>
          </p:nvPr>
        </p:nvSpPr>
        <p:spPr/>
        <p:txBody>
          <a:bodyPr/>
          <a:lstStyle/>
          <a:p>
            <a:fld id="{C275CD8D-B1D9-4658-A4F0-38CA8D83ED5D}" type="slidenum">
              <a:rPr lang="en-US" smtClean="0"/>
              <a:t>4</a:t>
            </a:fld>
            <a:endParaRPr lang="en-US" dirty="0"/>
          </a:p>
        </p:txBody>
      </p:sp>
    </p:spTree>
    <p:extLst>
      <p:ext uri="{BB962C8B-B14F-4D97-AF65-F5344CB8AC3E}">
        <p14:creationId xmlns:p14="http://schemas.microsoft.com/office/powerpoint/2010/main" val="507498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aim of my research is to create a scalable, adaptive, and data-efficient anomaly detection framework for edge-based IIoT.</a:t>
            </a:r>
          </a:p>
          <a:p>
            <a:r>
              <a:rPr lang="en-US" dirty="0"/>
              <a:t>To achieve this, I have outlined five key objectives.</a:t>
            </a:r>
          </a:p>
          <a:p>
            <a:r>
              <a:rPr lang="en-US" dirty="0"/>
              <a:t>First, to address the issue of limited labeled data by leveraging self-supervised and few-shot learning methods. Second, to enable the system to adapt quickly to new or evolving anomalies, which are common in industrial environments.</a:t>
            </a:r>
          </a:p>
          <a:p>
            <a:r>
              <a:rPr lang="en-US" dirty="0"/>
              <a:t>Third, to ensure scalability and efficiency with reinforcement learning so that the model can run on resource-constrained edge devices. Fourth, to reduce reliance on centralized cloud systems, thereby lowering latency and improving real-time decision-making.</a:t>
            </a:r>
          </a:p>
          <a:p>
            <a:r>
              <a:rPr lang="en-US" dirty="0"/>
              <a:t>And finally, to demonstrate the practicality of this approach through experiments and direct comparisons with conventional techniques.</a:t>
            </a:r>
          </a:p>
          <a:p>
            <a:r>
              <a:rPr lang="en-US" dirty="0"/>
              <a:t>Together, these objectives form the foundation of the research and guide the development of the proposed framework."*</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5</a:t>
            </a:fld>
            <a:endParaRPr lang="en-US" dirty="0"/>
          </a:p>
        </p:txBody>
      </p:sp>
    </p:spTree>
    <p:extLst>
      <p:ext uri="{BB962C8B-B14F-4D97-AF65-F5344CB8AC3E}">
        <p14:creationId xmlns:p14="http://schemas.microsoft.com/office/powerpoint/2010/main" val="2943116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framework, which integrates self-supervised learning, few-shot learning, and reinforcement learning for anomaly detection in IIoT.</a:t>
            </a:r>
          </a:p>
          <a:p>
            <a:r>
              <a:rPr lang="en-US" dirty="0"/>
              <a:t>First, self-supervised learning is used to learn meaningful feature representations directly from unlabeled data, reducing the need for costly manual labeling.</a:t>
            </a:r>
          </a:p>
          <a:p>
            <a:r>
              <a:rPr lang="en-US" dirty="0"/>
              <a:t>Next, few-shot learning uses these representations to classify anomalies with only a handful of labeled samples. This allows the system to detect rare or previously unseen defects more effectively.</a:t>
            </a:r>
          </a:p>
          <a:p>
            <a:r>
              <a:rPr lang="en-US" dirty="0"/>
              <a:t>Finally, reinforcement learning is introduced to provide continuous adaptation. The RL agent can update prototypes, request operator feedback when uncertain, and even recognize when a completely new class of anomaly appears.</a:t>
            </a:r>
          </a:p>
          <a:p>
            <a:r>
              <a:rPr lang="en-US" dirty="0"/>
              <a:t>Together, this hybrid framework is data-efficient, scalable to edge devices, and adaptive to evolving industrial environments, making it well-suited for real-world IIoT anomaly detection."*</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6</a:t>
            </a:fld>
            <a:endParaRPr lang="en-US" dirty="0"/>
          </a:p>
        </p:txBody>
      </p:sp>
    </p:spTree>
    <p:extLst>
      <p:ext uri="{BB962C8B-B14F-4D97-AF65-F5344CB8AC3E}">
        <p14:creationId xmlns:p14="http://schemas.microsoft.com/office/powerpoint/2010/main" val="196224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data acquisition. I used the SOLDEF AI PCB dataset, which contains annotated PCB defect images, and also generated synthetic IIoT data to simulate diverse industrial scenarios. The data was preprocessed through normalization, noise filtering, and semi-automated labeling.</a:t>
            </a:r>
          </a:p>
          <a:p>
            <a:r>
              <a:rPr lang="en-US" dirty="0"/>
              <a:t>Second, model development. The framework integrates three components: self-supervised learning through contrastive methods, few-shot classification using prototypical networks, and reinforcement learning with Q-learning to enable continuous adaptation.</a:t>
            </a:r>
          </a:p>
          <a:p>
            <a:r>
              <a:rPr lang="en-US" dirty="0"/>
              <a:t>Third, experimentation. Instead of deploying directly on edge devices, Docker containers were used to simulate resource-constrained environments with limited CPU and memory, ensuring realistic testing.</a:t>
            </a:r>
          </a:p>
          <a:p>
            <a:r>
              <a:rPr lang="en-US" dirty="0"/>
              <a:t>Finally, evaluation. The framework was assessed using standard metrics such as accuracy, precision, recall, and F1-score, as well as efficiency measures like training time, model footprint, and scalability.</a:t>
            </a:r>
          </a:p>
          <a:p>
            <a:r>
              <a:rPr lang="en-US" dirty="0"/>
              <a:t>This structured approach ensures both the technical rigor and practical relevance of the proposed system."*</a:t>
            </a:r>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7</a:t>
            </a:fld>
            <a:endParaRPr lang="en-US" dirty="0"/>
          </a:p>
        </p:txBody>
      </p:sp>
    </p:spTree>
    <p:extLst>
      <p:ext uri="{BB962C8B-B14F-4D97-AF65-F5344CB8AC3E}">
        <p14:creationId xmlns:p14="http://schemas.microsoft.com/office/powerpoint/2010/main" val="4202070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key results comparing the traditional CNN pipeline with the proposed SSL + FSL + RL pipeline.</a:t>
            </a:r>
          </a:p>
          <a:p>
            <a:r>
              <a:rPr lang="en-US" dirty="0"/>
              <a:t>The CNN achieves the highest overall accuracy at 78 percent. In comparison, the hybrid pipeline reaches 72.5 percent, which is about 93 percent of the CNN’s performance.</a:t>
            </a:r>
          </a:p>
          <a:p>
            <a:r>
              <a:rPr lang="en-US" dirty="0"/>
              <a:t>However, the differences in efficiency are significant. The CNN requires 252 labeled samples, while the proposed framework needs only 32—an 87 percent reduction in labeling effort. Training time also drops dramatically, from around 15 minutes on a CPU for CNN to under one minute for the hybrid method.</a:t>
            </a:r>
          </a:p>
          <a:p>
            <a:r>
              <a:rPr lang="en-US" dirty="0"/>
              <a:t>In terms of model size, the CNN occupies over 42 megabytes, while the SSL + FSL + RL pipeline is just 11.7 megabytes, making it 3.6 times smaller and far more deployable on edge devices.</a:t>
            </a:r>
          </a:p>
          <a:p>
            <a:r>
              <a:rPr lang="en-US" dirty="0"/>
              <a:t>So while CNN is better in accuracy, the proposed framework is much more efficient, lightweight, and adaptive—making it a stronger choice for real-world edge-based IIoT deployments."*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summary, the CNN pipeline is better suited for stable environments with abundant labeled data, while the hybrid SSL + FSL + RL framework is more practical for dynamic and resource-constrained edge-based IIoT systems."*</a:t>
            </a:r>
          </a:p>
          <a:p>
            <a:endParaRPr lang="en-US" dirty="0"/>
          </a:p>
          <a:p>
            <a:endParaRPr lang="en-US" dirty="0"/>
          </a:p>
        </p:txBody>
      </p:sp>
      <p:sp>
        <p:nvSpPr>
          <p:cNvPr id="4" name="Slide Number Placeholder 3"/>
          <p:cNvSpPr>
            <a:spLocks noGrp="1"/>
          </p:cNvSpPr>
          <p:nvPr>
            <p:ph type="sldNum" sz="quarter" idx="5"/>
          </p:nvPr>
        </p:nvSpPr>
        <p:spPr/>
        <p:txBody>
          <a:bodyPr/>
          <a:lstStyle/>
          <a:p>
            <a:fld id="{C275CD8D-B1D9-4658-A4F0-38CA8D83ED5D}" type="slidenum">
              <a:rPr lang="en-US" smtClean="0"/>
              <a:t>8</a:t>
            </a:fld>
            <a:endParaRPr lang="en-US" dirty="0"/>
          </a:p>
        </p:txBody>
      </p:sp>
    </p:spTree>
    <p:extLst>
      <p:ext uri="{BB962C8B-B14F-4D97-AF65-F5344CB8AC3E}">
        <p14:creationId xmlns:p14="http://schemas.microsoft.com/office/powerpoint/2010/main" val="2051716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5E9C5-B396-77D1-A801-9CF1883FC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C2271-32A0-AE8C-31F9-BA32323A9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12384B-EFBA-74E5-A3FB-1BFD5DE1809C}"/>
              </a:ext>
            </a:extLst>
          </p:cNvPr>
          <p:cNvSpPr>
            <a:spLocks noGrp="1"/>
          </p:cNvSpPr>
          <p:nvPr>
            <p:ph type="body" idx="1"/>
          </p:nvPr>
        </p:nvSpPr>
        <p:spPr/>
        <p:txBody>
          <a:bodyPr/>
          <a:lstStyle/>
          <a:p>
            <a:r>
              <a:rPr lang="en-US" dirty="0"/>
              <a:t>*"Like any research, this study also has its limitations.</a:t>
            </a:r>
          </a:p>
          <a:p>
            <a:r>
              <a:rPr lang="en-US" dirty="0"/>
              <a:t>First, it was evaluated primarily on a single dataset focused on PCB defects. While this provides useful insights, generalization to other IIoT domains such as smart grids or predictive maintenance needs further validation.</a:t>
            </a:r>
          </a:p>
          <a:p>
            <a:r>
              <a:rPr lang="en-US" dirty="0"/>
              <a:t>Second, the training setup was intentionally constrained. Self-supervised pretraining was limited to short epochs, and the few-shot learning was fixed to a small number of shots per class. These choices may have understated the upper potential of the framework.</a:t>
            </a:r>
          </a:p>
          <a:p>
            <a:r>
              <a:rPr lang="en-US" dirty="0"/>
              <a:t>Third, the experiments were conducted using Docker-based simulations on CPUs, rather than real industrial edge hardware. Similarly, the effects of quantization were estimated but not fully measured on actual devices.</a:t>
            </a:r>
          </a:p>
          <a:p>
            <a:r>
              <a:rPr lang="en-US" dirty="0"/>
              <a:t>Finally, the reinforcement learning component was not tested longitudinally to fully assess its adaptation over time.</a:t>
            </a:r>
          </a:p>
          <a:p>
            <a:r>
              <a:rPr lang="en-US" dirty="0"/>
              <a:t>These limitations highlight areas for further improvement and provide directions for future work."*</a:t>
            </a:r>
          </a:p>
        </p:txBody>
      </p:sp>
      <p:sp>
        <p:nvSpPr>
          <p:cNvPr id="4" name="Slide Number Placeholder 3">
            <a:extLst>
              <a:ext uri="{FF2B5EF4-FFF2-40B4-BE49-F238E27FC236}">
                <a16:creationId xmlns:a16="http://schemas.microsoft.com/office/drawing/2014/main" id="{3199F95A-3004-97CD-254E-2162DB611DAA}"/>
              </a:ext>
            </a:extLst>
          </p:cNvPr>
          <p:cNvSpPr>
            <a:spLocks noGrp="1"/>
          </p:cNvSpPr>
          <p:nvPr>
            <p:ph type="sldNum" sz="quarter" idx="5"/>
          </p:nvPr>
        </p:nvSpPr>
        <p:spPr/>
        <p:txBody>
          <a:bodyPr/>
          <a:lstStyle/>
          <a:p>
            <a:fld id="{C275CD8D-B1D9-4658-A4F0-38CA8D83ED5D}" type="slidenum">
              <a:rPr lang="en-US" smtClean="0"/>
              <a:t>9</a:t>
            </a:fld>
            <a:endParaRPr lang="en-US" dirty="0"/>
          </a:p>
        </p:txBody>
      </p:sp>
    </p:spTree>
    <p:extLst>
      <p:ext uri="{BB962C8B-B14F-4D97-AF65-F5344CB8AC3E}">
        <p14:creationId xmlns:p14="http://schemas.microsoft.com/office/powerpoint/2010/main" val="1819957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proposed SSL + FSL + RL framework achieves nearly the same accuracy as a CNN baseline, while using far fewer labeled samples, training much faster, and requiring a smaller footprint. Reinforcement learning further allows it to adapt continually to new anomalies, making it highly suitable for resource-constrained edge deployments.</a:t>
            </a:r>
          </a:p>
          <a:p>
            <a:r>
              <a:rPr lang="en-US" dirty="0"/>
              <a:t>Looking ahead, several directions can strengthen this work. These include extending self-supervised pretraining, performing systematic experiments and ablations, and validating on real edge hardware. Model compression techniques such as quantization-aware training and pruning can further optimize performance. Finally, long-term reinforcement learning under distributional drift, along with richer evaluation metrics, will provide stronger evidence of its robustness and real-world applicability.</a:t>
            </a:r>
          </a:p>
          <a:p>
            <a:r>
              <a:rPr lang="en-US" dirty="0"/>
              <a:t>Together, these steps will help transform this framework from a promising prototype into a fully deployable solution for industrial IoT anomaly detection."*</a:t>
            </a:r>
          </a:p>
          <a:p>
            <a:endParaRPr lang="en-US" b="1" dirty="0"/>
          </a:p>
        </p:txBody>
      </p:sp>
      <p:sp>
        <p:nvSpPr>
          <p:cNvPr id="4" name="Slide Number Placeholder 3"/>
          <p:cNvSpPr>
            <a:spLocks noGrp="1"/>
          </p:cNvSpPr>
          <p:nvPr>
            <p:ph type="sldNum" sz="quarter" idx="5"/>
          </p:nvPr>
        </p:nvSpPr>
        <p:spPr/>
        <p:txBody>
          <a:bodyPr/>
          <a:lstStyle/>
          <a:p>
            <a:fld id="{C275CD8D-B1D9-4658-A4F0-38CA8D83ED5D}" type="slidenum">
              <a:rPr lang="en-US" smtClean="0"/>
              <a:t>10</a:t>
            </a:fld>
            <a:endParaRPr lang="en-US" dirty="0"/>
          </a:p>
        </p:txBody>
      </p:sp>
    </p:spTree>
    <p:extLst>
      <p:ext uri="{BB962C8B-B14F-4D97-AF65-F5344CB8AC3E}">
        <p14:creationId xmlns:p14="http://schemas.microsoft.com/office/powerpoint/2010/main" val="2930276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any questions?</a:t>
            </a:r>
          </a:p>
        </p:txBody>
      </p:sp>
      <p:sp>
        <p:nvSpPr>
          <p:cNvPr id="4" name="Slide Number Placeholder 3"/>
          <p:cNvSpPr>
            <a:spLocks noGrp="1"/>
          </p:cNvSpPr>
          <p:nvPr>
            <p:ph type="sldNum" sz="quarter" idx="5"/>
          </p:nvPr>
        </p:nvSpPr>
        <p:spPr/>
        <p:txBody>
          <a:bodyPr/>
          <a:lstStyle/>
          <a:p>
            <a:fld id="{C275CD8D-B1D9-4658-A4F0-38CA8D83ED5D}" type="slidenum">
              <a:rPr lang="en-US" smtClean="0"/>
              <a:t>11</a:t>
            </a:fld>
            <a:endParaRPr lang="en-US" dirty="0"/>
          </a:p>
        </p:txBody>
      </p:sp>
    </p:spTree>
    <p:extLst>
      <p:ext uri="{BB962C8B-B14F-4D97-AF65-F5344CB8AC3E}">
        <p14:creationId xmlns:p14="http://schemas.microsoft.com/office/powerpoint/2010/main" val="1472289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9/28/2025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9/28/2025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9/28/2025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9/28/2025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9/28/2025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9/28/2025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9/28/2025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weeblytutorials.com/web-analytic-tools/" TargetMode="External"/><Relationship Id="rId3" Type="http://schemas.openxmlformats.org/officeDocument/2006/relationships/image" Target="../media/image5.jp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hyperlink" Target="https://www.konstruktionspraxis.vogel.de/wie-optimale-partnerschaften-fuer-mehr-kundennutzen-sorgen-a-5552c3eab74fe6a46f2d13f2147a4584/" TargetMode="External"/><Relationship Id="rId5" Type="http://schemas.openxmlformats.org/officeDocument/2006/relationships/image" Target="../media/image6.jpeg"/><Relationship Id="rId4" Type="http://schemas.openxmlformats.org/officeDocument/2006/relationships/hyperlink" Target="https://www.picpedia.org/post-it-note/a/anomaly.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uscdcb.com/system-downtime-next-week-schedule-change/" TargetMode="External"/><Relationship Id="rId5" Type="http://schemas.openxmlformats.org/officeDocument/2006/relationships/image" Target="../media/image9.jpg"/><Relationship Id="rId4" Type="http://schemas.openxmlformats.org/officeDocument/2006/relationships/hyperlink" Target="https://www.wepc.com/tips/cpu-gpu-bottleneck/"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mitchtublin.com/planning-ahead/"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mdpi.com/2504-4494/8/3/117"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Daavidng/project/blob/main/README.m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hyperlink" Target="https://www.youtube.com/watch?v=J6Zl3VGlLs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hyperlink" Target="https://freepngimg.com/svg/color/008000/122221-keep-distance-warning" TargetMode="Externa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palmistryforyou.com/2012/02/"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8" name="Rectangle 77">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5" name="Picture 4" descr="close up of circuit board">
            <a:extLst>
              <a:ext uri="{FF2B5EF4-FFF2-40B4-BE49-F238E27FC236}">
                <a16:creationId xmlns:a16="http://schemas.microsoft.com/office/drawing/2014/main" id="{525AE681-57C0-4C44-9E88-A16CDA016EB3}"/>
              </a:ext>
            </a:extLst>
          </p:cNvPr>
          <p:cNvPicPr>
            <a:picLocks noChangeAspect="1"/>
          </p:cNvPicPr>
          <p:nvPr/>
        </p:nvPicPr>
        <p:blipFill rotWithShape="1">
          <a:blip r:embed="rId5">
            <a:alphaModFix amt="30000"/>
          </a:blip>
          <a:srcRect t="6504" b="9202"/>
          <a:stretch/>
        </p:blipFill>
        <p:spPr>
          <a:xfrm>
            <a:off x="-2" y="10"/>
            <a:ext cx="12188389" cy="6857990"/>
          </a:xfrm>
          <a:prstGeom prst="rect">
            <a:avLst/>
          </a:prstGeom>
        </p:spPr>
      </p:pic>
      <p:grpSp>
        <p:nvGrpSpPr>
          <p:cNvPr id="81" name="Group 80">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2"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4"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5"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6"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7"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8"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9"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0"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1"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2"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3"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4"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5"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6"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7"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8"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9"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0"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1"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2"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3"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grpSp>
      <p:sp>
        <p:nvSpPr>
          <p:cNvPr id="2" name="Title 1">
            <a:extLst>
              <a:ext uri="{FF2B5EF4-FFF2-40B4-BE49-F238E27FC236}">
                <a16:creationId xmlns:a16="http://schemas.microsoft.com/office/drawing/2014/main" id="{ED476017-D224-40AE-B921-67525450151A}"/>
              </a:ext>
            </a:extLst>
          </p:cNvPr>
          <p:cNvSpPr>
            <a:spLocks noGrp="1"/>
          </p:cNvSpPr>
          <p:nvPr>
            <p:ph type="ctrTitle"/>
          </p:nvPr>
        </p:nvSpPr>
        <p:spPr>
          <a:xfrm>
            <a:off x="2667000" y="2328334"/>
            <a:ext cx="6858000" cy="2250490"/>
          </a:xfrm>
        </p:spPr>
        <p:txBody>
          <a:bodyPr>
            <a:noAutofit/>
          </a:bodyPr>
          <a:lstStyle/>
          <a:p>
            <a:r>
              <a:rPr lang="en-US" sz="3200" b="1" i="1" dirty="0"/>
              <a:t>Self-Supervised Few-Shot </a:t>
            </a:r>
            <a:br>
              <a:rPr lang="en-US" sz="3200" b="1" i="1" dirty="0"/>
            </a:br>
            <a:r>
              <a:rPr lang="en-US" sz="3200" b="1" i="1" dirty="0"/>
              <a:t>Reinforcement Learning </a:t>
            </a:r>
            <a:br>
              <a:rPr lang="en-US" sz="3200" b="1" i="1" dirty="0"/>
            </a:br>
            <a:r>
              <a:rPr lang="en-US" sz="3200" b="1" i="1" dirty="0"/>
              <a:t>for Scalable and Adaptive </a:t>
            </a:r>
            <a:br>
              <a:rPr lang="en-US" sz="3200" b="1" i="1" dirty="0"/>
            </a:br>
            <a:r>
              <a:rPr lang="en-US" sz="3200" b="1" i="1" dirty="0"/>
              <a:t>Anomaly Detection in </a:t>
            </a:r>
            <a:br>
              <a:rPr lang="en-US" sz="3200" b="1" i="1" dirty="0"/>
            </a:br>
            <a:r>
              <a:rPr lang="en-US" sz="3200" b="1" i="1" dirty="0"/>
              <a:t>Edge-Based Industrial IoT Systems</a:t>
            </a:r>
            <a:endParaRPr lang="en-US" sz="3200" b="1" dirty="0"/>
          </a:p>
        </p:txBody>
      </p:sp>
      <p:sp>
        <p:nvSpPr>
          <p:cNvPr id="3" name="Subtitle 2">
            <a:extLst>
              <a:ext uri="{FF2B5EF4-FFF2-40B4-BE49-F238E27FC236}">
                <a16:creationId xmlns:a16="http://schemas.microsoft.com/office/drawing/2014/main" id="{51F013D4-CBD9-4FC1-AF91-2301A704488B}"/>
              </a:ext>
            </a:extLst>
          </p:cNvPr>
          <p:cNvSpPr>
            <a:spLocks noGrp="1"/>
          </p:cNvSpPr>
          <p:nvPr>
            <p:ph type="subTitle" idx="1"/>
          </p:nvPr>
        </p:nvSpPr>
        <p:spPr>
          <a:xfrm>
            <a:off x="142166" y="5227983"/>
            <a:ext cx="6857999" cy="1456440"/>
          </a:xfrm>
        </p:spPr>
        <p:txBody>
          <a:bodyPr>
            <a:normAutofit/>
          </a:bodyPr>
          <a:lstStyle/>
          <a:p>
            <a:r>
              <a:rPr lang="en-US" dirty="0"/>
              <a:t>STUDENT: Ng Kien Loong (TP078627)</a:t>
            </a:r>
          </a:p>
          <a:p>
            <a:r>
              <a:rPr lang="en-US" dirty="0"/>
              <a:t>Supervisor : Assoc. Prof. Dr. Raja Rajeswari</a:t>
            </a:r>
          </a:p>
          <a:p>
            <a:r>
              <a:rPr lang="en-US" dirty="0"/>
              <a:t>Co-supervisor : Assoc. Prof. Dr. V. Sivakumar</a:t>
            </a:r>
          </a:p>
        </p:txBody>
      </p:sp>
      <p:pic>
        <p:nvPicPr>
          <p:cNvPr id="7" name="Picture 6" descr="A logo of a globe with yellow rings around it&#10;&#10;Description automatically generated">
            <a:extLst>
              <a:ext uri="{FF2B5EF4-FFF2-40B4-BE49-F238E27FC236}">
                <a16:creationId xmlns:a16="http://schemas.microsoft.com/office/drawing/2014/main" id="{7E10F1E2-E0D9-5C90-D1CB-85B275274245}"/>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566" r="4610"/>
          <a:stretch>
            <a:fillRect/>
          </a:stretch>
        </p:blipFill>
        <p:spPr bwMode="auto">
          <a:xfrm>
            <a:off x="10317706" y="91806"/>
            <a:ext cx="1684269" cy="1636675"/>
          </a:xfrm>
          <a:prstGeom prst="rect">
            <a:avLst/>
          </a:prstGeom>
          <a:ln>
            <a:noFill/>
          </a:ln>
          <a:extLst>
            <a:ext uri="{53640926-AAD7-44D8-BBD7-CCE9431645EC}">
              <a14:shadowObscured xmlns:a14="http://schemas.microsoft.com/office/drawing/2010/main"/>
            </a:ext>
          </a:extLst>
        </p:spPr>
      </p:pic>
      <p:sp>
        <p:nvSpPr>
          <p:cNvPr id="14" name="Subtitle 2">
            <a:extLst>
              <a:ext uri="{FF2B5EF4-FFF2-40B4-BE49-F238E27FC236}">
                <a16:creationId xmlns:a16="http://schemas.microsoft.com/office/drawing/2014/main" id="{8A537F13-8147-787F-4988-AFD14AE5216A}"/>
              </a:ext>
            </a:extLst>
          </p:cNvPr>
          <p:cNvSpPr txBox="1">
            <a:spLocks/>
          </p:cNvSpPr>
          <p:nvPr/>
        </p:nvSpPr>
        <p:spPr>
          <a:xfrm>
            <a:off x="9951615" y="6230413"/>
            <a:ext cx="2004095" cy="535781"/>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r>
              <a:rPr lang="en-US" dirty="0"/>
              <a:t>September 2025</a:t>
            </a:r>
          </a:p>
        </p:txBody>
      </p:sp>
    </p:spTree>
    <p:extLst>
      <p:ext uri="{BB962C8B-B14F-4D97-AF65-F5344CB8AC3E}">
        <p14:creationId xmlns:p14="http://schemas.microsoft.com/office/powerpoint/2010/main" val="1337192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BE74-967B-199A-462A-C5F4BDC3CAA5}"/>
              </a:ext>
            </a:extLst>
          </p:cNvPr>
          <p:cNvSpPr>
            <a:spLocks noGrp="1"/>
          </p:cNvSpPr>
          <p:nvPr>
            <p:ph type="title"/>
          </p:nvPr>
        </p:nvSpPr>
        <p:spPr>
          <a:xfrm>
            <a:off x="965977" y="626589"/>
            <a:ext cx="10281961" cy="1905000"/>
          </a:xfrm>
        </p:spPr>
        <p:txBody>
          <a:bodyPr/>
          <a:lstStyle/>
          <a:p>
            <a:r>
              <a:rPr lang="en-US" b="1" dirty="0"/>
              <a:t>Industrial IoT (IIoT) and Anomaly Detection</a:t>
            </a:r>
          </a:p>
        </p:txBody>
      </p:sp>
      <p:sp>
        <p:nvSpPr>
          <p:cNvPr id="3" name="Text Placeholder 2">
            <a:extLst>
              <a:ext uri="{FF2B5EF4-FFF2-40B4-BE49-F238E27FC236}">
                <a16:creationId xmlns:a16="http://schemas.microsoft.com/office/drawing/2014/main" id="{D8C2C545-808E-C603-6F7A-779D7E7A5001}"/>
              </a:ext>
            </a:extLst>
          </p:cNvPr>
          <p:cNvSpPr>
            <a:spLocks noGrp="1"/>
          </p:cNvSpPr>
          <p:nvPr>
            <p:ph type="body" idx="1"/>
          </p:nvPr>
        </p:nvSpPr>
        <p:spPr>
          <a:xfrm>
            <a:off x="1141410" y="2220717"/>
            <a:ext cx="3196899" cy="1139546"/>
          </a:xfrm>
        </p:spPr>
        <p:txBody>
          <a:bodyPr/>
          <a:lstStyle/>
          <a:p>
            <a:r>
              <a:rPr lang="en-US" dirty="0"/>
              <a:t>IIoT growth</a:t>
            </a:r>
          </a:p>
        </p:txBody>
      </p:sp>
      <p:sp>
        <p:nvSpPr>
          <p:cNvPr id="4" name="Text Placeholder 3">
            <a:extLst>
              <a:ext uri="{FF2B5EF4-FFF2-40B4-BE49-F238E27FC236}">
                <a16:creationId xmlns:a16="http://schemas.microsoft.com/office/drawing/2014/main" id="{BD82EA90-D9CE-A3D3-185C-EDFCBAF9CAD2}"/>
              </a:ext>
            </a:extLst>
          </p:cNvPr>
          <p:cNvSpPr>
            <a:spLocks noGrp="1"/>
          </p:cNvSpPr>
          <p:nvPr>
            <p:ph type="body" sz="half" idx="15"/>
          </p:nvPr>
        </p:nvSpPr>
        <p:spPr/>
        <p:txBody>
          <a:bodyPr/>
          <a:lstStyle/>
          <a:p>
            <a:r>
              <a:rPr lang="en-US" dirty="0"/>
              <a:t>Smart factories &amp; connected devices enable real-time monitoring &amp; decision-making</a:t>
            </a:r>
          </a:p>
        </p:txBody>
      </p:sp>
      <p:sp>
        <p:nvSpPr>
          <p:cNvPr id="5" name="Text Placeholder 4">
            <a:extLst>
              <a:ext uri="{FF2B5EF4-FFF2-40B4-BE49-F238E27FC236}">
                <a16:creationId xmlns:a16="http://schemas.microsoft.com/office/drawing/2014/main" id="{75A741FE-FB3B-F760-7752-42BB19DCA795}"/>
              </a:ext>
            </a:extLst>
          </p:cNvPr>
          <p:cNvSpPr>
            <a:spLocks noGrp="1"/>
          </p:cNvSpPr>
          <p:nvPr>
            <p:ph type="body" sz="quarter" idx="3"/>
          </p:nvPr>
        </p:nvSpPr>
        <p:spPr>
          <a:xfrm>
            <a:off x="4514766" y="2223889"/>
            <a:ext cx="3184385" cy="1139546"/>
          </a:xfrm>
        </p:spPr>
        <p:txBody>
          <a:bodyPr/>
          <a:lstStyle/>
          <a:p>
            <a:r>
              <a:rPr lang="en-US" dirty="0"/>
              <a:t>Challenges</a:t>
            </a:r>
          </a:p>
        </p:txBody>
      </p:sp>
      <p:sp>
        <p:nvSpPr>
          <p:cNvPr id="6" name="Text Placeholder 5">
            <a:extLst>
              <a:ext uri="{FF2B5EF4-FFF2-40B4-BE49-F238E27FC236}">
                <a16:creationId xmlns:a16="http://schemas.microsoft.com/office/drawing/2014/main" id="{63AC6AAB-2B15-815E-3DDB-E5AF3D2687D9}"/>
              </a:ext>
            </a:extLst>
          </p:cNvPr>
          <p:cNvSpPr>
            <a:spLocks noGrp="1"/>
          </p:cNvSpPr>
          <p:nvPr>
            <p:ph type="body" sz="half" idx="16"/>
          </p:nvPr>
        </p:nvSpPr>
        <p:spPr/>
        <p:txBody>
          <a:bodyPr/>
          <a:lstStyle/>
          <a:p>
            <a:r>
              <a:rPr lang="en-US" dirty="0"/>
              <a:t>Anomalies such as equipment failures, sensor faults, or cyber-attacks can cause downtime &amp; high costs</a:t>
            </a:r>
          </a:p>
        </p:txBody>
      </p:sp>
      <p:sp>
        <p:nvSpPr>
          <p:cNvPr id="7" name="Text Placeholder 6">
            <a:extLst>
              <a:ext uri="{FF2B5EF4-FFF2-40B4-BE49-F238E27FC236}">
                <a16:creationId xmlns:a16="http://schemas.microsoft.com/office/drawing/2014/main" id="{EA616052-769C-5405-D3DE-917439BC641A}"/>
              </a:ext>
            </a:extLst>
          </p:cNvPr>
          <p:cNvSpPr>
            <a:spLocks noGrp="1"/>
          </p:cNvSpPr>
          <p:nvPr>
            <p:ph type="body" sz="quarter" idx="13"/>
          </p:nvPr>
        </p:nvSpPr>
        <p:spPr>
          <a:xfrm>
            <a:off x="7852442" y="2223889"/>
            <a:ext cx="3194968" cy="1136374"/>
          </a:xfrm>
        </p:spPr>
        <p:txBody>
          <a:bodyPr/>
          <a:lstStyle/>
          <a:p>
            <a:r>
              <a:rPr lang="en-US" dirty="0"/>
              <a:t>Limitations of traditional anomaly detection</a:t>
            </a:r>
          </a:p>
        </p:txBody>
      </p:sp>
      <p:sp>
        <p:nvSpPr>
          <p:cNvPr id="8" name="Text Placeholder 7">
            <a:extLst>
              <a:ext uri="{FF2B5EF4-FFF2-40B4-BE49-F238E27FC236}">
                <a16:creationId xmlns:a16="http://schemas.microsoft.com/office/drawing/2014/main" id="{056A35A1-4D11-10B0-6B40-34FD330EF4F5}"/>
              </a:ext>
            </a:extLst>
          </p:cNvPr>
          <p:cNvSpPr>
            <a:spLocks noGrp="1"/>
          </p:cNvSpPr>
          <p:nvPr>
            <p:ph type="body" sz="half" idx="17"/>
          </p:nvPr>
        </p:nvSpPr>
        <p:spPr/>
        <p:txBody>
          <a:bodyPr/>
          <a:lstStyle/>
          <a:p>
            <a:pPr marL="285750" indent="-285750">
              <a:buFont typeface="Arial" panose="020B0604020202020204" pitchFamily="34" charset="0"/>
              <a:buChar char="•"/>
            </a:pPr>
            <a:r>
              <a:rPr lang="en-US" dirty="0"/>
              <a:t>Needs large labeled datasets (expensive, impractical)</a:t>
            </a:r>
          </a:p>
          <a:p>
            <a:pPr marL="285750" indent="-285750">
              <a:buFont typeface="Arial" panose="020B0604020202020204" pitchFamily="34" charset="0"/>
              <a:buChar char="•"/>
            </a:pPr>
            <a:r>
              <a:rPr lang="en-US" dirty="0"/>
              <a:t>Usually centralized, high latency, unsuitable for edge devices</a:t>
            </a:r>
          </a:p>
          <a:p>
            <a:pPr marL="285750" indent="-285750">
              <a:buFont typeface="Arial" panose="020B0604020202020204" pitchFamily="34" charset="0"/>
              <a:buChar char="•"/>
            </a:pPr>
            <a:r>
              <a:rPr lang="en-US" dirty="0"/>
              <a:t>Poor at handling dynamic and evolving anomalies.</a:t>
            </a:r>
          </a:p>
        </p:txBody>
      </p:sp>
      <p:pic>
        <p:nvPicPr>
          <p:cNvPr id="11" name="Picture 10" descr="A yellow sticky note next to a computer&#10;&#10;AI-generated content may be incorrect.">
            <a:extLst>
              <a:ext uri="{FF2B5EF4-FFF2-40B4-BE49-F238E27FC236}">
                <a16:creationId xmlns:a16="http://schemas.microsoft.com/office/drawing/2014/main" id="{09F68461-CDC2-9442-E09A-F0AAFF930C1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428381" y="5340625"/>
            <a:ext cx="1704561" cy="1136374"/>
          </a:xfrm>
          <a:prstGeom prst="rect">
            <a:avLst/>
          </a:prstGeom>
        </p:spPr>
      </p:pic>
      <p:pic>
        <p:nvPicPr>
          <p:cNvPr id="14" name="Picture 13" descr="A hand holding a robotic arm&#10;&#10;AI-generated content may be incorrect.">
            <a:extLst>
              <a:ext uri="{FF2B5EF4-FFF2-40B4-BE49-F238E27FC236}">
                <a16:creationId xmlns:a16="http://schemas.microsoft.com/office/drawing/2014/main" id="{CF07A42B-DB00-2A52-D4A8-87D41313D02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333500" y="4707144"/>
            <a:ext cx="2430120" cy="1331706"/>
          </a:xfrm>
          <a:prstGeom prst="rect">
            <a:avLst/>
          </a:prstGeom>
        </p:spPr>
      </p:pic>
      <p:pic>
        <p:nvPicPr>
          <p:cNvPr id="16" name="Picture 15" descr="A person walking on a blue arrow over a word&#10;&#10;AI-generated content may be incorrect.">
            <a:extLst>
              <a:ext uri="{FF2B5EF4-FFF2-40B4-BE49-F238E27FC236}">
                <a16:creationId xmlns:a16="http://schemas.microsoft.com/office/drawing/2014/main" id="{67FF8DC6-CF36-7CEB-FF8D-B2EC5EEE7921}"/>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4794858" y="4565647"/>
            <a:ext cx="2023441" cy="1549956"/>
          </a:xfrm>
          <a:prstGeom prst="rect">
            <a:avLst/>
          </a:prstGeom>
        </p:spPr>
      </p:pic>
    </p:spTree>
    <p:extLst>
      <p:ext uri="{BB962C8B-B14F-4D97-AF65-F5344CB8AC3E}">
        <p14:creationId xmlns:p14="http://schemas.microsoft.com/office/powerpoint/2010/main" val="4131298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DBFE-17E9-F895-2EA3-9EAF0654D3B1}"/>
              </a:ext>
            </a:extLst>
          </p:cNvPr>
          <p:cNvSpPr>
            <a:spLocks noGrp="1"/>
          </p:cNvSpPr>
          <p:nvPr>
            <p:ph type="title"/>
          </p:nvPr>
        </p:nvSpPr>
        <p:spPr>
          <a:xfrm>
            <a:off x="847413" y="625145"/>
            <a:ext cx="10798796" cy="1478570"/>
          </a:xfrm>
        </p:spPr>
        <p:txBody>
          <a:bodyPr/>
          <a:lstStyle/>
          <a:p>
            <a:r>
              <a:rPr lang="en-US" b="1" dirty="0"/>
              <a:t>Challenges in Current IIoT Anomaly Detection</a:t>
            </a:r>
          </a:p>
        </p:txBody>
      </p:sp>
      <p:sp>
        <p:nvSpPr>
          <p:cNvPr id="3" name="Content Placeholder 2">
            <a:extLst>
              <a:ext uri="{FF2B5EF4-FFF2-40B4-BE49-F238E27FC236}">
                <a16:creationId xmlns:a16="http://schemas.microsoft.com/office/drawing/2014/main" id="{6F587D58-CB11-DE93-17C5-DE02BDF43797}"/>
              </a:ext>
            </a:extLst>
          </p:cNvPr>
          <p:cNvSpPr>
            <a:spLocks noGrp="1"/>
          </p:cNvSpPr>
          <p:nvPr>
            <p:ph idx="1"/>
          </p:nvPr>
        </p:nvSpPr>
        <p:spPr/>
        <p:txBody>
          <a:bodyPr>
            <a:normAutofit fontScale="92500" lnSpcReduction="20000"/>
          </a:bodyPr>
          <a:lstStyle/>
          <a:p>
            <a:r>
              <a:rPr lang="en-US" b="1" dirty="0"/>
              <a:t>Dependence on labeled data</a:t>
            </a:r>
            <a:endParaRPr lang="en-US" dirty="0"/>
          </a:p>
          <a:p>
            <a:pPr lvl="1"/>
            <a:r>
              <a:rPr lang="en-US" dirty="0"/>
              <a:t>Industrial anomalies are rare &amp; labeling is costly</a:t>
            </a:r>
          </a:p>
          <a:p>
            <a:pPr lvl="1"/>
            <a:r>
              <a:rPr lang="en-US" dirty="0"/>
              <a:t>Limits scalability in real-world IIoT</a:t>
            </a:r>
          </a:p>
          <a:p>
            <a:r>
              <a:rPr lang="en-US" b="1" dirty="0"/>
              <a:t>Centralized model limitations</a:t>
            </a:r>
            <a:endParaRPr lang="en-US" dirty="0"/>
          </a:p>
          <a:p>
            <a:pPr lvl="1"/>
            <a:r>
              <a:rPr lang="en-US" dirty="0"/>
              <a:t>Cloud-based approaches = </a:t>
            </a:r>
            <a:r>
              <a:rPr lang="en-US" b="1" dirty="0"/>
              <a:t>high latency &amp; poor scalability</a:t>
            </a:r>
            <a:r>
              <a:rPr lang="en-US" dirty="0"/>
              <a:t> at the edge</a:t>
            </a:r>
          </a:p>
          <a:p>
            <a:pPr lvl="1"/>
            <a:r>
              <a:rPr lang="en-US" dirty="0"/>
              <a:t>Resource-hungry → not suitable for lightweight devices</a:t>
            </a:r>
          </a:p>
          <a:p>
            <a:r>
              <a:rPr lang="en-US" b="1" dirty="0"/>
              <a:t>Static models</a:t>
            </a:r>
            <a:endParaRPr lang="en-US" dirty="0"/>
          </a:p>
          <a:p>
            <a:pPr lvl="1"/>
            <a:r>
              <a:rPr lang="en-US" dirty="0"/>
              <a:t>Trained on historical data → fail to adapt to evolving industrial processes</a:t>
            </a:r>
          </a:p>
          <a:p>
            <a:pPr lvl="1"/>
            <a:r>
              <a:rPr lang="en-US" dirty="0"/>
              <a:t>Reduced reliability over time</a:t>
            </a:r>
          </a:p>
        </p:txBody>
      </p:sp>
      <p:pic>
        <p:nvPicPr>
          <p:cNvPr id="5" name="Picture 4" descr="A black and red line drawing of a bottleneck&#10;&#10;AI-generated content may be incorrect.">
            <a:extLst>
              <a:ext uri="{FF2B5EF4-FFF2-40B4-BE49-F238E27FC236}">
                <a16:creationId xmlns:a16="http://schemas.microsoft.com/office/drawing/2014/main" id="{8D3E96A5-B64F-C967-415C-3A8567AC0F2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693428" y="2066337"/>
            <a:ext cx="2522086" cy="1441192"/>
          </a:xfrm>
          <a:prstGeom prst="rect">
            <a:avLst/>
          </a:prstGeom>
        </p:spPr>
      </p:pic>
      <p:pic>
        <p:nvPicPr>
          <p:cNvPr id="7" name="Picture 6" descr="A computer monitor with a cord and a plug&#10;&#10;AI-generated content may be incorrect.">
            <a:extLst>
              <a:ext uri="{FF2B5EF4-FFF2-40B4-BE49-F238E27FC236}">
                <a16:creationId xmlns:a16="http://schemas.microsoft.com/office/drawing/2014/main" id="{24B44A87-235E-B660-358E-A55CC48B10E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422296" y="4391846"/>
            <a:ext cx="1744110" cy="1447394"/>
          </a:xfrm>
          <a:prstGeom prst="rect">
            <a:avLst/>
          </a:prstGeom>
        </p:spPr>
      </p:pic>
    </p:spTree>
    <p:extLst>
      <p:ext uri="{BB962C8B-B14F-4D97-AF65-F5344CB8AC3E}">
        <p14:creationId xmlns:p14="http://schemas.microsoft.com/office/powerpoint/2010/main" val="157411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6F788-E684-DC21-9F4C-75A759EB9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EECFD-10DF-EA25-EC12-953D4E1C4240}"/>
              </a:ext>
            </a:extLst>
          </p:cNvPr>
          <p:cNvSpPr>
            <a:spLocks noGrp="1"/>
          </p:cNvSpPr>
          <p:nvPr>
            <p:ph type="title"/>
          </p:nvPr>
        </p:nvSpPr>
        <p:spPr>
          <a:xfrm>
            <a:off x="1143001" y="155310"/>
            <a:ext cx="9905998" cy="1478570"/>
          </a:xfrm>
        </p:spPr>
        <p:txBody>
          <a:bodyPr/>
          <a:lstStyle/>
          <a:p>
            <a:r>
              <a:rPr lang="en-US" b="1" dirty="0"/>
              <a:t>Key Research Questions</a:t>
            </a:r>
          </a:p>
        </p:txBody>
      </p:sp>
      <p:sp>
        <p:nvSpPr>
          <p:cNvPr id="7" name="TextBox 6">
            <a:extLst>
              <a:ext uri="{FF2B5EF4-FFF2-40B4-BE49-F238E27FC236}">
                <a16:creationId xmlns:a16="http://schemas.microsoft.com/office/drawing/2014/main" id="{8156B30B-A006-2B74-C31C-EBE49B321719}"/>
              </a:ext>
            </a:extLst>
          </p:cNvPr>
          <p:cNvSpPr txBox="1"/>
          <p:nvPr/>
        </p:nvSpPr>
        <p:spPr>
          <a:xfrm>
            <a:off x="672550" y="2058169"/>
            <a:ext cx="3311386" cy="1200329"/>
          </a:xfrm>
          <a:prstGeom prst="rect">
            <a:avLst/>
          </a:prstGeom>
          <a:noFill/>
        </p:spPr>
        <p:txBody>
          <a:bodyPr wrap="square">
            <a:spAutoFit/>
          </a:bodyPr>
          <a:lstStyle/>
          <a:p>
            <a:pPr marL="342900" indent="-342900">
              <a:buFont typeface="+mj-lt"/>
              <a:buAutoNum type="arabicPeriod"/>
            </a:pPr>
            <a:r>
              <a:rPr lang="en-US" dirty="0"/>
              <a:t>How can self-supervised and few-shot reinforcement learning improve anomaly detection in IIoT?</a:t>
            </a:r>
          </a:p>
        </p:txBody>
      </p:sp>
      <p:sp>
        <p:nvSpPr>
          <p:cNvPr id="9" name="TextBox 8">
            <a:extLst>
              <a:ext uri="{FF2B5EF4-FFF2-40B4-BE49-F238E27FC236}">
                <a16:creationId xmlns:a16="http://schemas.microsoft.com/office/drawing/2014/main" id="{C4F0ACDF-143F-A550-D0BD-2DBD793989C6}"/>
              </a:ext>
            </a:extLst>
          </p:cNvPr>
          <p:cNvSpPr txBox="1"/>
          <p:nvPr/>
        </p:nvSpPr>
        <p:spPr>
          <a:xfrm>
            <a:off x="4169464" y="1803075"/>
            <a:ext cx="3096039" cy="923330"/>
          </a:xfrm>
          <a:prstGeom prst="rect">
            <a:avLst/>
          </a:prstGeom>
          <a:noFill/>
        </p:spPr>
        <p:txBody>
          <a:bodyPr wrap="square">
            <a:spAutoFit/>
          </a:bodyPr>
          <a:lstStyle/>
          <a:p>
            <a:pPr marL="342900" indent="-342900">
              <a:buFont typeface="+mj-lt"/>
              <a:buAutoNum type="arabicPeriod" startAt="2"/>
            </a:pPr>
            <a:r>
              <a:rPr lang="en-US" dirty="0"/>
              <a:t>How can the system detect new and evolving anomalies with minimal labeled data?</a:t>
            </a:r>
          </a:p>
        </p:txBody>
      </p:sp>
      <p:sp>
        <p:nvSpPr>
          <p:cNvPr id="11" name="TextBox 10">
            <a:extLst>
              <a:ext uri="{FF2B5EF4-FFF2-40B4-BE49-F238E27FC236}">
                <a16:creationId xmlns:a16="http://schemas.microsoft.com/office/drawing/2014/main" id="{A6996BF1-4D67-39D4-55E7-EB625B33FFCA}"/>
              </a:ext>
            </a:extLst>
          </p:cNvPr>
          <p:cNvSpPr txBox="1"/>
          <p:nvPr/>
        </p:nvSpPr>
        <p:spPr>
          <a:xfrm>
            <a:off x="7769085" y="2058169"/>
            <a:ext cx="4194313" cy="923330"/>
          </a:xfrm>
          <a:prstGeom prst="rect">
            <a:avLst/>
          </a:prstGeom>
          <a:noFill/>
        </p:spPr>
        <p:txBody>
          <a:bodyPr wrap="square">
            <a:spAutoFit/>
          </a:bodyPr>
          <a:lstStyle/>
          <a:p>
            <a:pPr marL="342900" indent="-342900">
              <a:buFont typeface="+mj-lt"/>
              <a:buAutoNum type="arabicPeriod" startAt="3"/>
            </a:pPr>
            <a:r>
              <a:rPr lang="en-US" dirty="0"/>
              <a:t>What ensures the scalability and efficiency of the framework in resource-limited edge devices?</a:t>
            </a:r>
          </a:p>
        </p:txBody>
      </p:sp>
      <p:sp>
        <p:nvSpPr>
          <p:cNvPr id="13" name="TextBox 12">
            <a:extLst>
              <a:ext uri="{FF2B5EF4-FFF2-40B4-BE49-F238E27FC236}">
                <a16:creationId xmlns:a16="http://schemas.microsoft.com/office/drawing/2014/main" id="{63CC7601-4584-B754-0D15-9E3426F96573}"/>
              </a:ext>
            </a:extLst>
          </p:cNvPr>
          <p:cNvSpPr txBox="1"/>
          <p:nvPr/>
        </p:nvSpPr>
        <p:spPr>
          <a:xfrm>
            <a:off x="1577007" y="4833256"/>
            <a:ext cx="3776871" cy="1200329"/>
          </a:xfrm>
          <a:prstGeom prst="rect">
            <a:avLst/>
          </a:prstGeom>
          <a:noFill/>
        </p:spPr>
        <p:txBody>
          <a:bodyPr wrap="square">
            <a:spAutoFit/>
          </a:bodyPr>
          <a:lstStyle/>
          <a:p>
            <a:pPr marL="342900" indent="-342900">
              <a:buFont typeface="+mj-lt"/>
              <a:buAutoNum type="arabicPeriod" startAt="4"/>
            </a:pPr>
            <a:r>
              <a:rPr lang="en-US" dirty="0"/>
              <a:t>How does this method compare to conventional techniques in terms of accuracy, latency, and adaptability?</a:t>
            </a:r>
          </a:p>
        </p:txBody>
      </p:sp>
      <p:sp>
        <p:nvSpPr>
          <p:cNvPr id="15" name="TextBox 14">
            <a:extLst>
              <a:ext uri="{FF2B5EF4-FFF2-40B4-BE49-F238E27FC236}">
                <a16:creationId xmlns:a16="http://schemas.microsoft.com/office/drawing/2014/main" id="{56D6F78C-787C-1303-564C-22E42514E9E8}"/>
              </a:ext>
            </a:extLst>
          </p:cNvPr>
          <p:cNvSpPr txBox="1"/>
          <p:nvPr/>
        </p:nvSpPr>
        <p:spPr>
          <a:xfrm>
            <a:off x="6031397" y="4892891"/>
            <a:ext cx="4285422" cy="923330"/>
          </a:xfrm>
          <a:prstGeom prst="rect">
            <a:avLst/>
          </a:prstGeom>
          <a:noFill/>
        </p:spPr>
        <p:txBody>
          <a:bodyPr wrap="square">
            <a:spAutoFit/>
          </a:bodyPr>
          <a:lstStyle/>
          <a:p>
            <a:pPr marL="342900" indent="-342900">
              <a:buFont typeface="+mj-lt"/>
              <a:buAutoNum type="arabicPeriod" startAt="5"/>
            </a:pPr>
            <a:r>
              <a:rPr lang="en-US" dirty="0"/>
              <a:t>Who benefits the most from this framework in </a:t>
            </a:r>
            <a:r>
              <a:rPr lang="en-US" b="1" dirty="0"/>
              <a:t>real-world industrial settings</a:t>
            </a:r>
            <a:r>
              <a:rPr lang="en-US" dirty="0"/>
              <a:t>?</a:t>
            </a:r>
          </a:p>
        </p:txBody>
      </p:sp>
      <p:sp>
        <p:nvSpPr>
          <p:cNvPr id="20" name="Cloud 19">
            <a:extLst>
              <a:ext uri="{FF2B5EF4-FFF2-40B4-BE49-F238E27FC236}">
                <a16:creationId xmlns:a16="http://schemas.microsoft.com/office/drawing/2014/main" id="{1A796A99-90E6-F01F-B5B0-9A6D8481EEE8}"/>
              </a:ext>
            </a:extLst>
          </p:cNvPr>
          <p:cNvSpPr/>
          <p:nvPr/>
        </p:nvSpPr>
        <p:spPr>
          <a:xfrm>
            <a:off x="1802295" y="2895600"/>
            <a:ext cx="7712767" cy="1997291"/>
          </a:xfrm>
          <a:prstGeom prst="clou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lvl="1" algn="ctr"/>
            <a:r>
              <a:rPr lang="en-US" sz="3200" dirty="0"/>
              <a:t>Research Questions</a:t>
            </a:r>
          </a:p>
        </p:txBody>
      </p:sp>
    </p:spTree>
    <p:extLst>
      <p:ext uri="{BB962C8B-B14F-4D97-AF65-F5344CB8AC3E}">
        <p14:creationId xmlns:p14="http://schemas.microsoft.com/office/powerpoint/2010/main" val="3023932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B481-6B5A-B3AC-7150-F922ED1E9FFC}"/>
              </a:ext>
            </a:extLst>
          </p:cNvPr>
          <p:cNvSpPr>
            <a:spLocks noGrp="1"/>
          </p:cNvSpPr>
          <p:nvPr>
            <p:ph type="title"/>
          </p:nvPr>
        </p:nvSpPr>
        <p:spPr>
          <a:xfrm>
            <a:off x="1143001" y="155310"/>
            <a:ext cx="9905998" cy="1478570"/>
          </a:xfrm>
        </p:spPr>
        <p:txBody>
          <a:bodyPr/>
          <a:lstStyle/>
          <a:p>
            <a:r>
              <a:rPr lang="en-US" b="1" dirty="0"/>
              <a:t>Research Aim and Objectives</a:t>
            </a:r>
          </a:p>
        </p:txBody>
      </p:sp>
      <p:sp>
        <p:nvSpPr>
          <p:cNvPr id="7" name="TextBox 6">
            <a:extLst>
              <a:ext uri="{FF2B5EF4-FFF2-40B4-BE49-F238E27FC236}">
                <a16:creationId xmlns:a16="http://schemas.microsoft.com/office/drawing/2014/main" id="{E66D603C-96C3-19AB-7121-F24B3C700615}"/>
              </a:ext>
            </a:extLst>
          </p:cNvPr>
          <p:cNvSpPr txBox="1"/>
          <p:nvPr/>
        </p:nvSpPr>
        <p:spPr>
          <a:xfrm>
            <a:off x="619541" y="2369158"/>
            <a:ext cx="3311386" cy="646331"/>
          </a:xfrm>
          <a:prstGeom prst="rect">
            <a:avLst/>
          </a:prstGeom>
          <a:noFill/>
        </p:spPr>
        <p:txBody>
          <a:bodyPr wrap="square">
            <a:spAutoFit/>
          </a:bodyPr>
          <a:lstStyle/>
          <a:p>
            <a:pPr marL="342900" indent="-342900">
              <a:buFont typeface="+mj-lt"/>
              <a:buAutoNum type="arabicPeriod"/>
            </a:pPr>
            <a:r>
              <a:rPr lang="en-US"/>
              <a:t>Improve anomaly detection with limited labeled data </a:t>
            </a:r>
          </a:p>
        </p:txBody>
      </p:sp>
      <p:sp>
        <p:nvSpPr>
          <p:cNvPr id="9" name="TextBox 8">
            <a:extLst>
              <a:ext uri="{FF2B5EF4-FFF2-40B4-BE49-F238E27FC236}">
                <a16:creationId xmlns:a16="http://schemas.microsoft.com/office/drawing/2014/main" id="{DC397F9E-DADF-4C7A-886B-038F9E264BCF}"/>
              </a:ext>
            </a:extLst>
          </p:cNvPr>
          <p:cNvSpPr txBox="1"/>
          <p:nvPr/>
        </p:nvSpPr>
        <p:spPr>
          <a:xfrm>
            <a:off x="4110658" y="1941574"/>
            <a:ext cx="3096039" cy="646331"/>
          </a:xfrm>
          <a:prstGeom prst="rect">
            <a:avLst/>
          </a:prstGeom>
          <a:noFill/>
        </p:spPr>
        <p:txBody>
          <a:bodyPr wrap="square">
            <a:spAutoFit/>
          </a:bodyPr>
          <a:lstStyle/>
          <a:p>
            <a:pPr marL="342900" indent="-342900">
              <a:buFont typeface="+mj-lt"/>
              <a:buAutoNum type="arabicPeriod" startAt="2"/>
            </a:pPr>
            <a:r>
              <a:rPr lang="en-US" dirty="0"/>
              <a:t>Enable fast adaptation to new or evolving anomalies</a:t>
            </a:r>
          </a:p>
        </p:txBody>
      </p:sp>
      <p:sp>
        <p:nvSpPr>
          <p:cNvPr id="11" name="TextBox 10">
            <a:extLst>
              <a:ext uri="{FF2B5EF4-FFF2-40B4-BE49-F238E27FC236}">
                <a16:creationId xmlns:a16="http://schemas.microsoft.com/office/drawing/2014/main" id="{E076D731-40B4-2894-9E74-992EB79EC448}"/>
              </a:ext>
            </a:extLst>
          </p:cNvPr>
          <p:cNvSpPr txBox="1"/>
          <p:nvPr/>
        </p:nvSpPr>
        <p:spPr>
          <a:xfrm>
            <a:off x="7860196" y="2045992"/>
            <a:ext cx="3548271" cy="923330"/>
          </a:xfrm>
          <a:prstGeom prst="rect">
            <a:avLst/>
          </a:prstGeom>
          <a:noFill/>
        </p:spPr>
        <p:txBody>
          <a:bodyPr wrap="square">
            <a:spAutoFit/>
          </a:bodyPr>
          <a:lstStyle/>
          <a:p>
            <a:pPr marL="342900" indent="-342900">
              <a:buFont typeface="+mj-lt"/>
              <a:buAutoNum type="arabicPeriod" startAt="3"/>
            </a:pPr>
            <a:r>
              <a:rPr lang="en-US" dirty="0"/>
              <a:t>Ensure scalability and efficiency in edge devices with reinforcement learning</a:t>
            </a:r>
          </a:p>
        </p:txBody>
      </p:sp>
      <p:sp>
        <p:nvSpPr>
          <p:cNvPr id="13" name="TextBox 12">
            <a:extLst>
              <a:ext uri="{FF2B5EF4-FFF2-40B4-BE49-F238E27FC236}">
                <a16:creationId xmlns:a16="http://schemas.microsoft.com/office/drawing/2014/main" id="{254871DF-F6E8-61CD-A80A-61D03874F5AB}"/>
              </a:ext>
            </a:extLst>
          </p:cNvPr>
          <p:cNvSpPr txBox="1"/>
          <p:nvPr/>
        </p:nvSpPr>
        <p:spPr>
          <a:xfrm>
            <a:off x="1875181" y="4892891"/>
            <a:ext cx="3096039" cy="646331"/>
          </a:xfrm>
          <a:prstGeom prst="rect">
            <a:avLst/>
          </a:prstGeom>
          <a:noFill/>
        </p:spPr>
        <p:txBody>
          <a:bodyPr wrap="square">
            <a:spAutoFit/>
          </a:bodyPr>
          <a:lstStyle/>
          <a:p>
            <a:pPr marL="342900" indent="-342900">
              <a:buFont typeface="+mj-lt"/>
              <a:buAutoNum type="arabicPeriod" startAt="4"/>
            </a:pPr>
            <a:r>
              <a:rPr lang="en-US" dirty="0"/>
              <a:t>Reduce dependence on large centralized systems </a:t>
            </a:r>
          </a:p>
        </p:txBody>
      </p:sp>
      <p:sp>
        <p:nvSpPr>
          <p:cNvPr id="15" name="TextBox 14">
            <a:extLst>
              <a:ext uri="{FF2B5EF4-FFF2-40B4-BE49-F238E27FC236}">
                <a16:creationId xmlns:a16="http://schemas.microsoft.com/office/drawing/2014/main" id="{8BB065BD-2645-D205-A897-0C27FF180F74}"/>
              </a:ext>
            </a:extLst>
          </p:cNvPr>
          <p:cNvSpPr txBox="1"/>
          <p:nvPr/>
        </p:nvSpPr>
        <p:spPr>
          <a:xfrm>
            <a:off x="6475345" y="4985657"/>
            <a:ext cx="4285422" cy="646331"/>
          </a:xfrm>
          <a:prstGeom prst="rect">
            <a:avLst/>
          </a:prstGeom>
          <a:noFill/>
        </p:spPr>
        <p:txBody>
          <a:bodyPr wrap="square">
            <a:spAutoFit/>
          </a:bodyPr>
          <a:lstStyle/>
          <a:p>
            <a:pPr marL="342900" indent="-342900">
              <a:buFont typeface="+mj-lt"/>
              <a:buAutoNum type="arabicPeriod" startAt="5"/>
            </a:pPr>
            <a:r>
              <a:rPr lang="en-US" dirty="0"/>
              <a:t>Demonstrate real-world applicability through experiments and comparisons </a:t>
            </a:r>
          </a:p>
        </p:txBody>
      </p:sp>
      <p:sp>
        <p:nvSpPr>
          <p:cNvPr id="20" name="Cloud 19">
            <a:extLst>
              <a:ext uri="{FF2B5EF4-FFF2-40B4-BE49-F238E27FC236}">
                <a16:creationId xmlns:a16="http://schemas.microsoft.com/office/drawing/2014/main" id="{C9C173B6-7075-9175-71D8-5AA4C8A9EB90}"/>
              </a:ext>
            </a:extLst>
          </p:cNvPr>
          <p:cNvSpPr/>
          <p:nvPr/>
        </p:nvSpPr>
        <p:spPr>
          <a:xfrm>
            <a:off x="1802295" y="2895600"/>
            <a:ext cx="7712767" cy="1997291"/>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dirty="0"/>
              <a:t>To design a </a:t>
            </a:r>
            <a:r>
              <a:rPr lang="en-US" b="1" dirty="0"/>
              <a:t>scalable, adaptive, and data-efficient anomaly detection framework</a:t>
            </a:r>
            <a:r>
              <a:rPr lang="en-US" dirty="0"/>
              <a:t> for edge-based IIoT using </a:t>
            </a:r>
            <a:r>
              <a:rPr lang="en-US" b="1" dirty="0"/>
              <a:t>Self-Supervised Learning (SSL)</a:t>
            </a:r>
            <a:r>
              <a:rPr lang="en-US" dirty="0"/>
              <a:t>, </a:t>
            </a:r>
            <a:r>
              <a:rPr lang="en-US" b="1" dirty="0"/>
              <a:t>Few-Shot Learning (FSL)</a:t>
            </a:r>
            <a:r>
              <a:rPr lang="en-US" dirty="0"/>
              <a:t>, and </a:t>
            </a:r>
            <a:r>
              <a:rPr lang="en-US" b="1" dirty="0"/>
              <a:t>Reinforcement Learning (RL)</a:t>
            </a:r>
            <a:endParaRPr lang="en-US" dirty="0"/>
          </a:p>
        </p:txBody>
      </p:sp>
    </p:spTree>
    <p:extLst>
      <p:ext uri="{BB962C8B-B14F-4D97-AF65-F5344CB8AC3E}">
        <p14:creationId xmlns:p14="http://schemas.microsoft.com/office/powerpoint/2010/main" val="4091363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E50E-214C-F012-D483-8057B4208F36}"/>
              </a:ext>
            </a:extLst>
          </p:cNvPr>
          <p:cNvSpPr>
            <a:spLocks noGrp="1"/>
          </p:cNvSpPr>
          <p:nvPr>
            <p:ph type="title"/>
          </p:nvPr>
        </p:nvSpPr>
        <p:spPr/>
        <p:txBody>
          <a:bodyPr/>
          <a:lstStyle/>
          <a:p>
            <a:r>
              <a:rPr lang="en-US" b="1" dirty="0"/>
              <a:t>Proposed SSL + FSL + RL Framework</a:t>
            </a:r>
          </a:p>
        </p:txBody>
      </p:sp>
      <p:sp>
        <p:nvSpPr>
          <p:cNvPr id="3" name="Text Placeholder 2">
            <a:extLst>
              <a:ext uri="{FF2B5EF4-FFF2-40B4-BE49-F238E27FC236}">
                <a16:creationId xmlns:a16="http://schemas.microsoft.com/office/drawing/2014/main" id="{9B72E1B5-75E3-45D0-0F74-1C08C797EE33}"/>
              </a:ext>
            </a:extLst>
          </p:cNvPr>
          <p:cNvSpPr>
            <a:spLocks noGrp="1"/>
          </p:cNvSpPr>
          <p:nvPr>
            <p:ph type="body" idx="1"/>
          </p:nvPr>
        </p:nvSpPr>
        <p:spPr>
          <a:xfrm>
            <a:off x="611323" y="2581696"/>
            <a:ext cx="3196899" cy="685800"/>
          </a:xfrm>
        </p:spPr>
        <p:txBody>
          <a:bodyPr/>
          <a:lstStyle/>
          <a:p>
            <a:r>
              <a:rPr lang="en-US" dirty="0"/>
              <a:t>Self-Supervised Learning (SSL)</a:t>
            </a:r>
          </a:p>
        </p:txBody>
      </p:sp>
      <p:sp>
        <p:nvSpPr>
          <p:cNvPr id="4" name="Text Placeholder 3">
            <a:extLst>
              <a:ext uri="{FF2B5EF4-FFF2-40B4-BE49-F238E27FC236}">
                <a16:creationId xmlns:a16="http://schemas.microsoft.com/office/drawing/2014/main" id="{63340E26-2FAA-B19A-E7C4-28EFC5509149}"/>
              </a:ext>
            </a:extLst>
          </p:cNvPr>
          <p:cNvSpPr>
            <a:spLocks noGrp="1"/>
          </p:cNvSpPr>
          <p:nvPr>
            <p:ph type="body" sz="half" idx="15"/>
          </p:nvPr>
        </p:nvSpPr>
        <p:spPr>
          <a:xfrm>
            <a:off x="597831" y="3267496"/>
            <a:ext cx="3208735" cy="2430936"/>
          </a:xfrm>
        </p:spPr>
        <p:txBody>
          <a:bodyPr/>
          <a:lstStyle/>
          <a:p>
            <a:pPr marL="285750" indent="-285750">
              <a:buFont typeface="Arial" panose="020B0604020202020204" pitchFamily="34" charset="0"/>
              <a:buChar char="•"/>
            </a:pPr>
            <a:r>
              <a:rPr lang="en-US" dirty="0"/>
              <a:t>Learns robust feature representations from </a:t>
            </a:r>
            <a:r>
              <a:rPr lang="en-US" i="1" dirty="0"/>
              <a:t>unlabeled data</a:t>
            </a:r>
            <a:endParaRPr lang="en-US" dirty="0"/>
          </a:p>
        </p:txBody>
      </p:sp>
      <p:sp>
        <p:nvSpPr>
          <p:cNvPr id="5" name="Text Placeholder 4">
            <a:extLst>
              <a:ext uri="{FF2B5EF4-FFF2-40B4-BE49-F238E27FC236}">
                <a16:creationId xmlns:a16="http://schemas.microsoft.com/office/drawing/2014/main" id="{2EAC78B7-703F-5857-595A-614BE3FBFB82}"/>
              </a:ext>
            </a:extLst>
          </p:cNvPr>
          <p:cNvSpPr>
            <a:spLocks noGrp="1"/>
          </p:cNvSpPr>
          <p:nvPr>
            <p:ph type="body" sz="quarter" idx="3"/>
          </p:nvPr>
        </p:nvSpPr>
        <p:spPr>
          <a:xfrm>
            <a:off x="4236470" y="2581696"/>
            <a:ext cx="3184385" cy="685800"/>
          </a:xfrm>
        </p:spPr>
        <p:txBody>
          <a:bodyPr/>
          <a:lstStyle/>
          <a:p>
            <a:r>
              <a:rPr lang="en-US" dirty="0"/>
              <a:t>Few-Shot Learning (FSL)</a:t>
            </a:r>
          </a:p>
        </p:txBody>
      </p:sp>
      <p:sp>
        <p:nvSpPr>
          <p:cNvPr id="6" name="Text Placeholder 5">
            <a:extLst>
              <a:ext uri="{FF2B5EF4-FFF2-40B4-BE49-F238E27FC236}">
                <a16:creationId xmlns:a16="http://schemas.microsoft.com/office/drawing/2014/main" id="{A603F2C7-FE60-7592-2AF6-D72F99C87822}"/>
              </a:ext>
            </a:extLst>
          </p:cNvPr>
          <p:cNvSpPr>
            <a:spLocks noGrp="1"/>
          </p:cNvSpPr>
          <p:nvPr>
            <p:ph type="body" sz="half" idx="16"/>
          </p:nvPr>
        </p:nvSpPr>
        <p:spPr>
          <a:xfrm>
            <a:off x="4225917" y="3267496"/>
            <a:ext cx="3195830" cy="2430936"/>
          </a:xfrm>
        </p:spPr>
        <p:txBody>
          <a:bodyPr/>
          <a:lstStyle/>
          <a:p>
            <a:pPr marL="285750" indent="-285750">
              <a:buFont typeface="Arial" panose="020B0604020202020204" pitchFamily="34" charset="0"/>
              <a:buChar char="•"/>
            </a:pPr>
            <a:r>
              <a:rPr lang="en-US" dirty="0"/>
              <a:t>Classifies anomalies with minimal labeled samples</a:t>
            </a:r>
          </a:p>
          <a:p>
            <a:pPr marL="285750" indent="-285750">
              <a:buFont typeface="Arial" panose="020B0604020202020204" pitchFamily="34" charset="0"/>
              <a:buChar char="•"/>
            </a:pPr>
            <a:r>
              <a:rPr lang="en-US" dirty="0"/>
              <a:t>Handles rare or novel anomalies</a:t>
            </a:r>
          </a:p>
        </p:txBody>
      </p:sp>
      <p:sp>
        <p:nvSpPr>
          <p:cNvPr id="7" name="Text Placeholder 6">
            <a:extLst>
              <a:ext uri="{FF2B5EF4-FFF2-40B4-BE49-F238E27FC236}">
                <a16:creationId xmlns:a16="http://schemas.microsoft.com/office/drawing/2014/main" id="{89AD5941-5575-F6C7-0513-29845C729E02}"/>
              </a:ext>
            </a:extLst>
          </p:cNvPr>
          <p:cNvSpPr>
            <a:spLocks noGrp="1"/>
          </p:cNvSpPr>
          <p:nvPr>
            <p:ph type="body" sz="quarter" idx="13"/>
          </p:nvPr>
        </p:nvSpPr>
        <p:spPr>
          <a:xfrm>
            <a:off x="8226923" y="2581696"/>
            <a:ext cx="3194968" cy="685800"/>
          </a:xfrm>
        </p:spPr>
        <p:txBody>
          <a:bodyPr/>
          <a:lstStyle/>
          <a:p>
            <a:r>
              <a:rPr lang="en-US" dirty="0"/>
              <a:t>Reinforcement Learning (RL)</a:t>
            </a:r>
          </a:p>
        </p:txBody>
      </p:sp>
      <p:sp>
        <p:nvSpPr>
          <p:cNvPr id="8" name="Text Placeholder 7">
            <a:extLst>
              <a:ext uri="{FF2B5EF4-FFF2-40B4-BE49-F238E27FC236}">
                <a16:creationId xmlns:a16="http://schemas.microsoft.com/office/drawing/2014/main" id="{B8C5D165-FC87-F975-41A3-765F3E38EC6D}"/>
              </a:ext>
            </a:extLst>
          </p:cNvPr>
          <p:cNvSpPr>
            <a:spLocks noGrp="1"/>
          </p:cNvSpPr>
          <p:nvPr>
            <p:ph type="body" sz="half" idx="17"/>
          </p:nvPr>
        </p:nvSpPr>
        <p:spPr>
          <a:xfrm>
            <a:off x="8226922" y="3267496"/>
            <a:ext cx="3414369" cy="2430936"/>
          </a:xfrm>
        </p:spPr>
        <p:txBody>
          <a:bodyPr/>
          <a:lstStyle/>
          <a:p>
            <a:pPr marL="285750" indent="-285750">
              <a:buFont typeface="Arial" panose="020B0604020202020204" pitchFamily="34" charset="0"/>
              <a:buChar char="•"/>
            </a:pPr>
            <a:r>
              <a:rPr lang="en-US" dirty="0"/>
              <a:t>Provides continuous adaptation over time</a:t>
            </a:r>
          </a:p>
          <a:p>
            <a:pPr marL="285750" indent="-285750">
              <a:buFont typeface="Arial" panose="020B0604020202020204" pitchFamily="34" charset="0"/>
              <a:buChar char="•"/>
            </a:pPr>
            <a:r>
              <a:rPr lang="en-US" dirty="0"/>
              <a:t>Optimizes decisions (e.g., update prototypes, request feedback, detect new classes)</a:t>
            </a:r>
          </a:p>
        </p:txBody>
      </p:sp>
      <p:sp>
        <p:nvSpPr>
          <p:cNvPr id="14" name="Content Placeholder 2">
            <a:extLst>
              <a:ext uri="{FF2B5EF4-FFF2-40B4-BE49-F238E27FC236}">
                <a16:creationId xmlns:a16="http://schemas.microsoft.com/office/drawing/2014/main" id="{6FE635BF-814F-C5E6-11E0-73BCB467D5E6}"/>
              </a:ext>
            </a:extLst>
          </p:cNvPr>
          <p:cNvSpPr txBox="1">
            <a:spLocks/>
          </p:cNvSpPr>
          <p:nvPr/>
        </p:nvSpPr>
        <p:spPr>
          <a:xfrm>
            <a:off x="1735292" y="4727712"/>
            <a:ext cx="9905999" cy="1378225"/>
          </a:xfrm>
          <a:prstGeom prst="rect">
            <a:avLst/>
          </a:prstGeom>
        </p:spPr>
        <p:txBody>
          <a:bodyPr vert="horz" lIns="91440" tIns="45720" rIns="91440" bIns="45720" rtlCol="0" anchor="b">
            <a:normAutofit fontScale="85000" lnSpcReduction="10000"/>
          </a:bodyPr>
          <a:lstStyle>
            <a:lvl1pPr marL="0" indent="0" algn="l" defTabSz="914400" rtl="0" eaLnBrk="1" latinLnBrk="0" hangingPunct="1">
              <a:lnSpc>
                <a:spcPct val="90000"/>
              </a:lnSpc>
              <a:spcBef>
                <a:spcPts val="1000"/>
              </a:spcBef>
              <a:buSzPct val="125000"/>
              <a:buFont typeface="Arial" panose="020B0604020202020204" pitchFamily="34" charset="0"/>
              <a:buNone/>
              <a:defRPr sz="24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r>
              <a:rPr lang="en-US" b="1" dirty="0"/>
              <a:t>Benefits</a:t>
            </a:r>
          </a:p>
          <a:p>
            <a:pPr marL="800100" lvl="1" indent="-342900">
              <a:buFont typeface="Arial" panose="020B0604020202020204" pitchFamily="34" charset="0"/>
              <a:buChar char="•"/>
            </a:pPr>
            <a:r>
              <a:rPr lang="en-US" b="0" dirty="0"/>
              <a:t>Data-efficient (uses fewer labels)</a:t>
            </a:r>
          </a:p>
          <a:p>
            <a:pPr marL="800100" lvl="1" indent="-342900">
              <a:buFont typeface="Arial" panose="020B0604020202020204" pitchFamily="34" charset="0"/>
              <a:buChar char="•"/>
            </a:pPr>
            <a:r>
              <a:rPr lang="en-US" b="0" dirty="0"/>
              <a:t>Scalable (smaller model size)</a:t>
            </a:r>
          </a:p>
          <a:p>
            <a:pPr marL="800100" lvl="1" indent="-342900">
              <a:buFont typeface="Arial" panose="020B0604020202020204" pitchFamily="34" charset="0"/>
              <a:buChar char="•"/>
            </a:pPr>
            <a:r>
              <a:rPr lang="en-US" b="0" dirty="0"/>
              <a:t>Adaptive (learns continuously at the edge)</a:t>
            </a:r>
          </a:p>
        </p:txBody>
      </p:sp>
      <p:sp>
        <p:nvSpPr>
          <p:cNvPr id="17" name="Arrow: Right 16">
            <a:extLst>
              <a:ext uri="{FF2B5EF4-FFF2-40B4-BE49-F238E27FC236}">
                <a16:creationId xmlns:a16="http://schemas.microsoft.com/office/drawing/2014/main" id="{75419BF0-F635-71C8-C52A-959A9B94EF6F}"/>
              </a:ext>
            </a:extLst>
          </p:cNvPr>
          <p:cNvSpPr/>
          <p:nvPr/>
        </p:nvSpPr>
        <p:spPr>
          <a:xfrm>
            <a:off x="7420855" y="2711726"/>
            <a:ext cx="649357" cy="425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2A25F43C-38B9-EC32-E416-6590348233EB}"/>
              </a:ext>
            </a:extLst>
          </p:cNvPr>
          <p:cNvSpPr/>
          <p:nvPr/>
        </p:nvSpPr>
        <p:spPr>
          <a:xfrm>
            <a:off x="3367712" y="2678178"/>
            <a:ext cx="649357" cy="4257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street sign with different directions&#10;&#10;AI-generated content may be incorrect.">
            <a:extLst>
              <a:ext uri="{FF2B5EF4-FFF2-40B4-BE49-F238E27FC236}">
                <a16:creationId xmlns:a16="http://schemas.microsoft.com/office/drawing/2014/main" id="{F5CBE2DA-4BE2-08E1-EEFF-59732EADD65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686260" y="4801434"/>
            <a:ext cx="2173357" cy="1358348"/>
          </a:xfrm>
          <a:prstGeom prst="rect">
            <a:avLst/>
          </a:prstGeom>
        </p:spPr>
      </p:pic>
    </p:spTree>
    <p:extLst>
      <p:ext uri="{BB962C8B-B14F-4D97-AF65-F5344CB8AC3E}">
        <p14:creationId xmlns:p14="http://schemas.microsoft.com/office/powerpoint/2010/main" val="51020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5F7D5-0EBB-75DE-375A-70AF34877D9A}"/>
              </a:ext>
            </a:extLst>
          </p:cNvPr>
          <p:cNvSpPr>
            <a:spLocks noGrp="1"/>
          </p:cNvSpPr>
          <p:nvPr>
            <p:ph type="ctrTitle"/>
          </p:nvPr>
        </p:nvSpPr>
        <p:spPr>
          <a:xfrm>
            <a:off x="2287242" y="592276"/>
            <a:ext cx="8791575" cy="891967"/>
          </a:xfrm>
        </p:spPr>
        <p:txBody>
          <a:bodyPr/>
          <a:lstStyle/>
          <a:p>
            <a:r>
              <a:rPr lang="en-US" b="1" dirty="0"/>
              <a:t>Research Methodology</a:t>
            </a:r>
          </a:p>
        </p:txBody>
      </p:sp>
      <p:sp>
        <p:nvSpPr>
          <p:cNvPr id="5" name="TextBox 4">
            <a:extLst>
              <a:ext uri="{FF2B5EF4-FFF2-40B4-BE49-F238E27FC236}">
                <a16:creationId xmlns:a16="http://schemas.microsoft.com/office/drawing/2014/main" id="{07242EE6-256D-13E6-5385-32DB7A92228F}"/>
              </a:ext>
            </a:extLst>
          </p:cNvPr>
          <p:cNvSpPr txBox="1"/>
          <p:nvPr/>
        </p:nvSpPr>
        <p:spPr>
          <a:xfrm>
            <a:off x="2256801" y="2225861"/>
            <a:ext cx="4426227" cy="2031325"/>
          </a:xfrm>
          <a:prstGeom prst="rect">
            <a:avLst/>
          </a:prstGeom>
          <a:noFill/>
        </p:spPr>
        <p:txBody>
          <a:bodyPr wrap="square" rtlCol="0">
            <a:spAutoFit/>
          </a:bodyPr>
          <a:lstStyle/>
          <a:p>
            <a:r>
              <a:rPr lang="en-US" b="1" dirty="0"/>
              <a:t>1. Data Acquisition</a:t>
            </a:r>
            <a:endParaRPr lang="en-US" dirty="0"/>
          </a:p>
          <a:p>
            <a:pPr marL="285750" indent="-285750">
              <a:buFont typeface="Arial" panose="020B0604020202020204" pitchFamily="34" charset="0"/>
              <a:buChar char="•"/>
            </a:pPr>
            <a:r>
              <a:rPr lang="en-US" dirty="0"/>
              <a:t>SOLDEF PCB dataset (defect detection)</a:t>
            </a:r>
          </a:p>
          <a:p>
            <a:pPr marL="285750" indent="-285750">
              <a:buFont typeface="Arial" panose="020B0604020202020204" pitchFamily="34" charset="0"/>
              <a:buChar char="•"/>
            </a:pPr>
            <a:r>
              <a:rPr lang="en-US" dirty="0"/>
              <a:t>Synthetic IIoT data via simulations</a:t>
            </a:r>
          </a:p>
          <a:p>
            <a:pPr marL="285750" indent="-285750">
              <a:buFont typeface="Arial" panose="020B0604020202020204" pitchFamily="34" charset="0"/>
              <a:buChar char="•"/>
            </a:pPr>
            <a:r>
              <a:rPr lang="en-US" dirty="0"/>
              <a:t>Preprocessing: normalization, noise filtering, semi-automated labeling</a:t>
            </a:r>
          </a:p>
          <a:p>
            <a:pPr marL="285750" indent="-285750">
              <a:buFont typeface="Arial" panose="020B0604020202020204" pitchFamily="34" charset="0"/>
              <a:buChar char="•"/>
            </a:pPr>
            <a:r>
              <a:rPr lang="en-US" dirty="0"/>
              <a:t>Dataset citation:</a:t>
            </a:r>
          </a:p>
          <a:p>
            <a:r>
              <a:rPr lang="en-US" dirty="0">
                <a:hlinkClick r:id="rId3"/>
              </a:rPr>
              <a:t>https://www.mdpi.com/2504-4494/8/3/117</a:t>
            </a:r>
            <a:r>
              <a:rPr lang="en-US" dirty="0"/>
              <a:t> </a:t>
            </a:r>
          </a:p>
        </p:txBody>
      </p:sp>
      <p:sp>
        <p:nvSpPr>
          <p:cNvPr id="6" name="TextBox 5">
            <a:extLst>
              <a:ext uri="{FF2B5EF4-FFF2-40B4-BE49-F238E27FC236}">
                <a16:creationId xmlns:a16="http://schemas.microsoft.com/office/drawing/2014/main" id="{1DC93069-17EF-7698-5C1D-75E5C341D2BF}"/>
              </a:ext>
            </a:extLst>
          </p:cNvPr>
          <p:cNvSpPr txBox="1"/>
          <p:nvPr/>
        </p:nvSpPr>
        <p:spPr>
          <a:xfrm>
            <a:off x="7096539" y="2225861"/>
            <a:ext cx="4426227" cy="1754326"/>
          </a:xfrm>
          <a:prstGeom prst="rect">
            <a:avLst/>
          </a:prstGeom>
          <a:noFill/>
        </p:spPr>
        <p:txBody>
          <a:bodyPr wrap="square" rtlCol="0">
            <a:spAutoFit/>
          </a:bodyPr>
          <a:lstStyle/>
          <a:p>
            <a:r>
              <a:rPr lang="en-US" b="1" dirty="0"/>
              <a:t>2. Model Development</a:t>
            </a:r>
            <a:endParaRPr lang="en-US" dirty="0"/>
          </a:p>
          <a:p>
            <a:pPr marL="285750" indent="-285750">
              <a:buFont typeface="Arial" panose="020B0604020202020204" pitchFamily="34" charset="0"/>
              <a:buChar char="•"/>
            </a:pPr>
            <a:r>
              <a:rPr lang="en-US" b="1" dirty="0"/>
              <a:t>SSL:</a:t>
            </a:r>
            <a:r>
              <a:rPr lang="en-US" dirty="0"/>
              <a:t> Contrastive learning for feature representation</a:t>
            </a:r>
          </a:p>
          <a:p>
            <a:pPr marL="285750" indent="-285750">
              <a:buFont typeface="Arial" panose="020B0604020202020204" pitchFamily="34" charset="0"/>
              <a:buChar char="•"/>
            </a:pPr>
            <a:r>
              <a:rPr lang="en-US" b="1" dirty="0"/>
              <a:t>FSL:</a:t>
            </a:r>
            <a:r>
              <a:rPr lang="en-US" dirty="0"/>
              <a:t> Prototypical networks for few-shot classification</a:t>
            </a:r>
          </a:p>
          <a:p>
            <a:pPr marL="285750" indent="-285750">
              <a:buFont typeface="Arial" panose="020B0604020202020204" pitchFamily="34" charset="0"/>
              <a:buChar char="•"/>
            </a:pPr>
            <a:r>
              <a:rPr lang="en-US" b="1" dirty="0"/>
              <a:t>RL:</a:t>
            </a:r>
            <a:r>
              <a:rPr lang="en-US" dirty="0"/>
              <a:t> Q-learning for continual adaptation</a:t>
            </a:r>
          </a:p>
        </p:txBody>
      </p:sp>
      <p:sp>
        <p:nvSpPr>
          <p:cNvPr id="7" name="TextBox 6">
            <a:extLst>
              <a:ext uri="{FF2B5EF4-FFF2-40B4-BE49-F238E27FC236}">
                <a16:creationId xmlns:a16="http://schemas.microsoft.com/office/drawing/2014/main" id="{1EB07E19-E959-A921-47DD-3335DB812484}"/>
              </a:ext>
            </a:extLst>
          </p:cNvPr>
          <p:cNvSpPr txBox="1"/>
          <p:nvPr/>
        </p:nvSpPr>
        <p:spPr>
          <a:xfrm>
            <a:off x="2256800" y="4536680"/>
            <a:ext cx="4426227" cy="1477328"/>
          </a:xfrm>
          <a:prstGeom prst="rect">
            <a:avLst/>
          </a:prstGeom>
          <a:noFill/>
        </p:spPr>
        <p:txBody>
          <a:bodyPr wrap="square" rtlCol="0">
            <a:spAutoFit/>
          </a:bodyPr>
          <a:lstStyle/>
          <a:p>
            <a:r>
              <a:rPr lang="en-US" b="1" dirty="0"/>
              <a:t>3. Experiment Setup</a:t>
            </a:r>
            <a:endParaRPr lang="en-US" dirty="0"/>
          </a:p>
          <a:p>
            <a:pPr marL="285750" indent="-285750">
              <a:buFont typeface="Arial" panose="020B0604020202020204" pitchFamily="34" charset="0"/>
              <a:buChar char="•"/>
            </a:pPr>
            <a:r>
              <a:rPr lang="en-US" dirty="0"/>
              <a:t>Simulated edge environments using Docker (CPU &amp; memory limits)</a:t>
            </a:r>
          </a:p>
          <a:p>
            <a:pPr marL="285750" indent="-285750">
              <a:buFont typeface="Arial" panose="020B0604020202020204" pitchFamily="34" charset="0"/>
              <a:buChar char="•"/>
            </a:pPr>
            <a:r>
              <a:rPr lang="en-US" dirty="0"/>
              <a:t>Consumer-grade GPUs/CPUs for training/testing</a:t>
            </a:r>
          </a:p>
        </p:txBody>
      </p:sp>
      <p:sp>
        <p:nvSpPr>
          <p:cNvPr id="8" name="TextBox 7">
            <a:extLst>
              <a:ext uri="{FF2B5EF4-FFF2-40B4-BE49-F238E27FC236}">
                <a16:creationId xmlns:a16="http://schemas.microsoft.com/office/drawing/2014/main" id="{1AF3D730-80B4-7B56-9ACA-2792E1F2D3C7}"/>
              </a:ext>
            </a:extLst>
          </p:cNvPr>
          <p:cNvSpPr txBox="1"/>
          <p:nvPr/>
        </p:nvSpPr>
        <p:spPr>
          <a:xfrm>
            <a:off x="7096539" y="4536680"/>
            <a:ext cx="4426227" cy="1477328"/>
          </a:xfrm>
          <a:prstGeom prst="rect">
            <a:avLst/>
          </a:prstGeom>
          <a:noFill/>
        </p:spPr>
        <p:txBody>
          <a:bodyPr wrap="square" rtlCol="0">
            <a:spAutoFit/>
          </a:bodyPr>
          <a:lstStyle/>
          <a:p>
            <a:r>
              <a:rPr lang="en-US" b="1" dirty="0"/>
              <a:t>4. Evaluation Metrics</a:t>
            </a:r>
            <a:endParaRPr lang="en-US" dirty="0"/>
          </a:p>
          <a:p>
            <a:pPr marL="285750" indent="-285750">
              <a:buFont typeface="Arial" panose="020B0604020202020204" pitchFamily="34" charset="0"/>
              <a:buChar char="•"/>
            </a:pPr>
            <a:r>
              <a:rPr lang="en-US" dirty="0"/>
              <a:t>Accuracy, Precision, Recall, F1-score</a:t>
            </a:r>
          </a:p>
          <a:p>
            <a:pPr marL="285750" indent="-285750">
              <a:buFont typeface="Arial" panose="020B0604020202020204" pitchFamily="34" charset="0"/>
              <a:buChar char="•"/>
            </a:pPr>
            <a:r>
              <a:rPr lang="en-US" dirty="0"/>
              <a:t>Training time &amp; computational efficiency</a:t>
            </a:r>
          </a:p>
          <a:p>
            <a:pPr marL="285750" indent="-285750">
              <a:buFont typeface="Arial" panose="020B0604020202020204" pitchFamily="34" charset="0"/>
              <a:buChar char="•"/>
            </a:pPr>
            <a:r>
              <a:rPr lang="en-US" dirty="0"/>
              <a:t>Scalability &amp; adaptability under edge constraints</a:t>
            </a:r>
          </a:p>
        </p:txBody>
      </p:sp>
    </p:spTree>
    <p:extLst>
      <p:ext uri="{BB962C8B-B14F-4D97-AF65-F5344CB8AC3E}">
        <p14:creationId xmlns:p14="http://schemas.microsoft.com/office/powerpoint/2010/main" val="584845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1619-116B-7241-64AB-81FF3A28D161}"/>
              </a:ext>
            </a:extLst>
          </p:cNvPr>
          <p:cNvSpPr>
            <a:spLocks noGrp="1"/>
          </p:cNvSpPr>
          <p:nvPr>
            <p:ph type="title"/>
          </p:nvPr>
        </p:nvSpPr>
        <p:spPr/>
        <p:txBody>
          <a:bodyPr/>
          <a:lstStyle/>
          <a:p>
            <a:r>
              <a:rPr lang="en-US" b="1" dirty="0"/>
              <a:t>Results – CNN vs SSL + FSL + RL</a:t>
            </a:r>
          </a:p>
        </p:txBody>
      </p:sp>
      <p:graphicFrame>
        <p:nvGraphicFramePr>
          <p:cNvPr id="4" name="Content Placeholder 3">
            <a:extLst>
              <a:ext uri="{FF2B5EF4-FFF2-40B4-BE49-F238E27FC236}">
                <a16:creationId xmlns:a16="http://schemas.microsoft.com/office/drawing/2014/main" id="{74427D41-2FB3-FF3C-9E9A-E93D06CD0EEA}"/>
              </a:ext>
            </a:extLst>
          </p:cNvPr>
          <p:cNvGraphicFramePr>
            <a:graphicFrameLocks noGrp="1"/>
          </p:cNvGraphicFramePr>
          <p:nvPr>
            <p:ph idx="1"/>
            <p:extLst>
              <p:ext uri="{D42A27DB-BD31-4B8C-83A1-F6EECF244321}">
                <p14:modId xmlns:p14="http://schemas.microsoft.com/office/powerpoint/2010/main" val="3277598884"/>
              </p:ext>
            </p:extLst>
          </p:nvPr>
        </p:nvGraphicFramePr>
        <p:xfrm>
          <a:off x="1141413" y="2249488"/>
          <a:ext cx="9906000" cy="1854200"/>
        </p:xfrm>
        <a:graphic>
          <a:graphicData uri="http://schemas.openxmlformats.org/drawingml/2006/table">
            <a:tbl>
              <a:tblPr firstRow="1" bandRow="1">
                <a:tableStyleId>{5C22544A-7EE6-4342-B048-85BDC9FD1C3A}</a:tableStyleId>
              </a:tblPr>
              <a:tblGrid>
                <a:gridCol w="2204761">
                  <a:extLst>
                    <a:ext uri="{9D8B030D-6E8A-4147-A177-3AD203B41FA5}">
                      <a16:colId xmlns:a16="http://schemas.microsoft.com/office/drawing/2014/main" val="1822720321"/>
                    </a:ext>
                  </a:extLst>
                </a:gridCol>
                <a:gridCol w="2425148">
                  <a:extLst>
                    <a:ext uri="{9D8B030D-6E8A-4147-A177-3AD203B41FA5}">
                      <a16:colId xmlns:a16="http://schemas.microsoft.com/office/drawing/2014/main" val="151283079"/>
                    </a:ext>
                  </a:extLst>
                </a:gridCol>
                <a:gridCol w="5276091">
                  <a:extLst>
                    <a:ext uri="{9D8B030D-6E8A-4147-A177-3AD203B41FA5}">
                      <a16:colId xmlns:a16="http://schemas.microsoft.com/office/drawing/2014/main" val="1733636935"/>
                    </a:ext>
                  </a:extLst>
                </a:gridCol>
              </a:tblGrid>
              <a:tr h="370840">
                <a:tc>
                  <a:txBody>
                    <a:bodyPr/>
                    <a:lstStyle/>
                    <a:p>
                      <a:endParaRPr lang="en-US"/>
                    </a:p>
                  </a:txBody>
                  <a:tcPr/>
                </a:tc>
                <a:tc>
                  <a:txBody>
                    <a:bodyPr/>
                    <a:lstStyle/>
                    <a:p>
                      <a:pPr algn="r"/>
                      <a:r>
                        <a:rPr lang="en-SG" dirty="0"/>
                        <a:t>CNN</a:t>
                      </a:r>
                      <a:endParaRPr lang="en-US" dirty="0"/>
                    </a:p>
                  </a:txBody>
                  <a:tcPr/>
                </a:tc>
                <a:tc>
                  <a:txBody>
                    <a:bodyPr/>
                    <a:lstStyle/>
                    <a:p>
                      <a:pPr algn="r"/>
                      <a:r>
                        <a:rPr lang="en-SG" dirty="0"/>
                        <a:t>SSL + FSL + RL</a:t>
                      </a:r>
                      <a:endParaRPr lang="en-US" dirty="0"/>
                    </a:p>
                  </a:txBody>
                  <a:tcPr/>
                </a:tc>
                <a:extLst>
                  <a:ext uri="{0D108BD9-81ED-4DB2-BD59-A6C34878D82A}">
                    <a16:rowId xmlns:a16="http://schemas.microsoft.com/office/drawing/2014/main" val="1877882630"/>
                  </a:ext>
                </a:extLst>
              </a:tr>
              <a:tr h="370840">
                <a:tc>
                  <a:txBody>
                    <a:bodyPr/>
                    <a:lstStyle/>
                    <a:p>
                      <a:r>
                        <a:rPr lang="en-US" dirty="0"/>
                        <a:t>Accuracy</a:t>
                      </a:r>
                    </a:p>
                  </a:txBody>
                  <a:tcPr/>
                </a:tc>
                <a:tc>
                  <a:txBody>
                    <a:bodyPr/>
                    <a:lstStyle/>
                    <a:p>
                      <a:pPr algn="r"/>
                      <a:r>
                        <a:rPr lang="en-SG" dirty="0"/>
                        <a:t>78.0%</a:t>
                      </a:r>
                      <a:endParaRPr lang="en-US" dirty="0"/>
                    </a:p>
                  </a:txBody>
                  <a:tcPr/>
                </a:tc>
                <a:tc>
                  <a:txBody>
                    <a:bodyPr/>
                    <a:lstStyle/>
                    <a:p>
                      <a:pPr algn="r"/>
                      <a:r>
                        <a:rPr lang="en-US" dirty="0"/>
                        <a:t>72.5% (~93% of CNN performance)</a:t>
                      </a:r>
                    </a:p>
                  </a:txBody>
                  <a:tcPr/>
                </a:tc>
                <a:extLst>
                  <a:ext uri="{0D108BD9-81ED-4DB2-BD59-A6C34878D82A}">
                    <a16:rowId xmlns:a16="http://schemas.microsoft.com/office/drawing/2014/main" val="1717766199"/>
                  </a:ext>
                </a:extLst>
              </a:tr>
              <a:tr h="370840">
                <a:tc>
                  <a:txBody>
                    <a:bodyPr/>
                    <a:lstStyle/>
                    <a:p>
                      <a:r>
                        <a:rPr lang="en-US" dirty="0"/>
                        <a:t>Labeling Efficiency</a:t>
                      </a:r>
                    </a:p>
                  </a:txBody>
                  <a:tcPr/>
                </a:tc>
                <a:tc>
                  <a:txBody>
                    <a:bodyPr/>
                    <a:lstStyle/>
                    <a:p>
                      <a:pPr algn="r"/>
                      <a:r>
                        <a:rPr lang="en-US" dirty="0"/>
                        <a:t>252 labeled samples</a:t>
                      </a:r>
                    </a:p>
                  </a:txBody>
                  <a:tcPr/>
                </a:tc>
                <a:tc>
                  <a:txBody>
                    <a:bodyPr/>
                    <a:lstStyle/>
                    <a:p>
                      <a:pPr algn="r"/>
                      <a:r>
                        <a:rPr lang="en-US" dirty="0"/>
                        <a:t>32 labeled samples (87% reduction)</a:t>
                      </a:r>
                    </a:p>
                  </a:txBody>
                  <a:tcPr/>
                </a:tc>
                <a:extLst>
                  <a:ext uri="{0D108BD9-81ED-4DB2-BD59-A6C34878D82A}">
                    <a16:rowId xmlns:a16="http://schemas.microsoft.com/office/drawing/2014/main" val="2722806113"/>
                  </a:ext>
                </a:extLst>
              </a:tr>
              <a:tr h="370840">
                <a:tc>
                  <a:txBody>
                    <a:bodyPr/>
                    <a:lstStyle/>
                    <a:p>
                      <a:r>
                        <a:rPr lang="en-US" dirty="0"/>
                        <a:t>Training Time</a:t>
                      </a:r>
                    </a:p>
                  </a:txBody>
                  <a:tcPr/>
                </a:tc>
                <a:tc>
                  <a:txBody>
                    <a:bodyPr/>
                    <a:lstStyle/>
                    <a:p>
                      <a:pPr algn="r"/>
                      <a:r>
                        <a:rPr lang="en-US" dirty="0"/>
                        <a:t>~15 minutes (CPU)</a:t>
                      </a:r>
                    </a:p>
                  </a:txBody>
                  <a:tcPr/>
                </a:tc>
                <a:tc>
                  <a:txBody>
                    <a:bodyPr/>
                    <a:lstStyle/>
                    <a:p>
                      <a:pPr algn="r"/>
                      <a:r>
                        <a:rPr lang="en-US" dirty="0"/>
                        <a:t>&lt;1 minute (CPU)</a:t>
                      </a:r>
                    </a:p>
                  </a:txBody>
                  <a:tcPr/>
                </a:tc>
                <a:extLst>
                  <a:ext uri="{0D108BD9-81ED-4DB2-BD59-A6C34878D82A}">
                    <a16:rowId xmlns:a16="http://schemas.microsoft.com/office/drawing/2014/main" val="2052126472"/>
                  </a:ext>
                </a:extLst>
              </a:tr>
              <a:tr h="370840">
                <a:tc>
                  <a:txBody>
                    <a:bodyPr/>
                    <a:lstStyle/>
                    <a:p>
                      <a:r>
                        <a:rPr lang="en-US" dirty="0"/>
                        <a:t>Model Size</a:t>
                      </a:r>
                    </a:p>
                  </a:txBody>
                  <a:tcPr/>
                </a:tc>
                <a:tc>
                  <a:txBody>
                    <a:bodyPr/>
                    <a:lstStyle/>
                    <a:p>
                      <a:pPr algn="r"/>
                      <a:r>
                        <a:rPr lang="en-US" dirty="0"/>
                        <a:t>42.6 MB</a:t>
                      </a:r>
                    </a:p>
                  </a:txBody>
                  <a:tcPr/>
                </a:tc>
                <a:tc>
                  <a:txBody>
                    <a:bodyPr/>
                    <a:lstStyle/>
                    <a:p>
                      <a:pPr algn="r"/>
                      <a:r>
                        <a:rPr lang="en-US" dirty="0"/>
                        <a:t>11.7 MB (3.6× smaller)</a:t>
                      </a:r>
                    </a:p>
                  </a:txBody>
                  <a:tcPr/>
                </a:tc>
                <a:extLst>
                  <a:ext uri="{0D108BD9-81ED-4DB2-BD59-A6C34878D82A}">
                    <a16:rowId xmlns:a16="http://schemas.microsoft.com/office/drawing/2014/main" val="211395957"/>
                  </a:ext>
                </a:extLst>
              </a:tr>
            </a:tbl>
          </a:graphicData>
        </a:graphic>
      </p:graphicFrame>
      <p:sp>
        <p:nvSpPr>
          <p:cNvPr id="6" name="TextBox 5">
            <a:extLst>
              <a:ext uri="{FF2B5EF4-FFF2-40B4-BE49-F238E27FC236}">
                <a16:creationId xmlns:a16="http://schemas.microsoft.com/office/drawing/2014/main" id="{B5DB3246-D084-3A91-1F40-3FFD615D55AD}"/>
              </a:ext>
            </a:extLst>
          </p:cNvPr>
          <p:cNvSpPr txBox="1"/>
          <p:nvPr/>
        </p:nvSpPr>
        <p:spPr>
          <a:xfrm>
            <a:off x="1141413" y="4483412"/>
            <a:ext cx="6102626" cy="646331"/>
          </a:xfrm>
          <a:prstGeom prst="rect">
            <a:avLst/>
          </a:prstGeom>
          <a:noFill/>
        </p:spPr>
        <p:txBody>
          <a:bodyPr wrap="square">
            <a:spAutoFit/>
          </a:bodyPr>
          <a:lstStyle/>
          <a:p>
            <a:r>
              <a:rPr lang="en-US" dirty="0"/>
              <a:t>For more details:</a:t>
            </a:r>
          </a:p>
          <a:p>
            <a:r>
              <a:rPr lang="en-US" dirty="0">
                <a:hlinkClick r:id="rId3"/>
              </a:rPr>
              <a:t>https://github.com/Daavidng/project/blob/main/README.md</a:t>
            </a:r>
            <a:r>
              <a:rPr lang="en-US" dirty="0"/>
              <a:t> </a:t>
            </a:r>
          </a:p>
        </p:txBody>
      </p:sp>
    </p:spTree>
    <p:extLst>
      <p:ext uri="{BB962C8B-B14F-4D97-AF65-F5344CB8AC3E}">
        <p14:creationId xmlns:p14="http://schemas.microsoft.com/office/powerpoint/2010/main" val="390510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79D0A-6B6A-2619-C222-52ECB36A1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E68E5-21FC-93FB-51DD-E1DA0A800E7C}"/>
              </a:ext>
            </a:extLst>
          </p:cNvPr>
          <p:cNvSpPr>
            <a:spLocks noGrp="1"/>
          </p:cNvSpPr>
          <p:nvPr>
            <p:ph type="title"/>
          </p:nvPr>
        </p:nvSpPr>
        <p:spPr>
          <a:xfrm>
            <a:off x="1293811" y="534461"/>
            <a:ext cx="10798796" cy="1478570"/>
          </a:xfrm>
        </p:spPr>
        <p:txBody>
          <a:bodyPr/>
          <a:lstStyle/>
          <a:p>
            <a:r>
              <a:rPr lang="en-US" b="1" dirty="0"/>
              <a:t>Research Limitations</a:t>
            </a:r>
          </a:p>
        </p:txBody>
      </p:sp>
      <p:sp>
        <p:nvSpPr>
          <p:cNvPr id="3" name="Content Placeholder 2">
            <a:extLst>
              <a:ext uri="{FF2B5EF4-FFF2-40B4-BE49-F238E27FC236}">
                <a16:creationId xmlns:a16="http://schemas.microsoft.com/office/drawing/2014/main" id="{D2BAFCAE-4AD4-1FF9-4E76-AA1D122F1D64}"/>
              </a:ext>
            </a:extLst>
          </p:cNvPr>
          <p:cNvSpPr>
            <a:spLocks noGrp="1"/>
          </p:cNvSpPr>
          <p:nvPr>
            <p:ph idx="1"/>
          </p:nvPr>
        </p:nvSpPr>
        <p:spPr>
          <a:xfrm>
            <a:off x="1293811" y="1788509"/>
            <a:ext cx="9905999" cy="4854116"/>
          </a:xfrm>
        </p:spPr>
        <p:txBody>
          <a:bodyPr>
            <a:normAutofit fontScale="92500" lnSpcReduction="10000"/>
          </a:bodyPr>
          <a:lstStyle/>
          <a:p>
            <a:r>
              <a:rPr lang="en-US" dirty="0"/>
              <a:t>Dataset Constraints</a:t>
            </a:r>
          </a:p>
          <a:p>
            <a:pPr lvl="1"/>
            <a:r>
              <a:rPr lang="en-US" dirty="0"/>
              <a:t>Evaluated mainly on one dataset (PCB defects)</a:t>
            </a:r>
          </a:p>
          <a:p>
            <a:pPr lvl="1"/>
            <a:r>
              <a:rPr lang="en-US" dirty="0"/>
              <a:t>Generalization to other IIoT domains still uncertain</a:t>
            </a:r>
          </a:p>
          <a:p>
            <a:r>
              <a:rPr lang="en-US" dirty="0"/>
              <a:t>Training Setup</a:t>
            </a:r>
          </a:p>
          <a:p>
            <a:pPr lvl="1"/>
            <a:r>
              <a:rPr lang="en-US" dirty="0"/>
              <a:t>SSL pretraining limited (short epochs)</a:t>
            </a:r>
          </a:p>
          <a:p>
            <a:pPr lvl="1"/>
            <a:r>
              <a:rPr lang="en-US" dirty="0"/>
              <a:t>Few-shot setup fixed (5–8 shots per class)</a:t>
            </a:r>
          </a:p>
          <a:p>
            <a:r>
              <a:rPr lang="en-US" dirty="0"/>
              <a:t>Evaluation Environment</a:t>
            </a:r>
          </a:p>
          <a:p>
            <a:pPr lvl="1"/>
            <a:r>
              <a:rPr lang="en-US" dirty="0"/>
              <a:t>Tested in CPU + Docker simulations, not real edge hardware</a:t>
            </a:r>
          </a:p>
          <a:p>
            <a:pPr lvl="1"/>
            <a:r>
              <a:rPr lang="en-US" dirty="0"/>
              <a:t>Quantization impacts estimated, not fully measured</a:t>
            </a:r>
          </a:p>
          <a:p>
            <a:r>
              <a:rPr lang="en-US" dirty="0"/>
              <a:t>Metrics &amp; Scope</a:t>
            </a:r>
          </a:p>
          <a:p>
            <a:pPr lvl="1"/>
            <a:r>
              <a:rPr lang="en-US" dirty="0"/>
              <a:t>Long-term RL adaptation not yet tested under real distributional drift</a:t>
            </a:r>
          </a:p>
        </p:txBody>
      </p:sp>
      <p:pic>
        <p:nvPicPr>
          <p:cNvPr id="8" name="Graphic 7">
            <a:extLst>
              <a:ext uri="{FF2B5EF4-FFF2-40B4-BE49-F238E27FC236}">
                <a16:creationId xmlns:a16="http://schemas.microsoft.com/office/drawing/2014/main" id="{69B0023D-03F4-AFD9-3CE2-0270EE71B586}"/>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8832201" y="646333"/>
            <a:ext cx="1672063" cy="1616079"/>
          </a:xfrm>
          <a:prstGeom prst="rect">
            <a:avLst/>
          </a:prstGeom>
        </p:spPr>
      </p:pic>
      <p:pic>
        <p:nvPicPr>
          <p:cNvPr id="10" name="Picture 9" descr="A close-up of a circuit board&#10;&#10;AI-generated content may be incorrect.">
            <a:extLst>
              <a:ext uri="{FF2B5EF4-FFF2-40B4-BE49-F238E27FC236}">
                <a16:creationId xmlns:a16="http://schemas.microsoft.com/office/drawing/2014/main" id="{7FBC96B8-B681-24F8-FE83-954109E83FEB}"/>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8650574" y="3729169"/>
            <a:ext cx="2571907" cy="1446698"/>
          </a:xfrm>
          <a:prstGeom prst="rect">
            <a:avLst/>
          </a:prstGeom>
        </p:spPr>
      </p:pic>
    </p:spTree>
    <p:extLst>
      <p:ext uri="{BB962C8B-B14F-4D97-AF65-F5344CB8AC3E}">
        <p14:creationId xmlns:p14="http://schemas.microsoft.com/office/powerpoint/2010/main" val="51813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16122-F32A-8A77-D5E6-1892F19C80E6}"/>
              </a:ext>
            </a:extLst>
          </p:cNvPr>
          <p:cNvSpPr>
            <a:spLocks noGrp="1"/>
          </p:cNvSpPr>
          <p:nvPr>
            <p:ph type="title"/>
          </p:nvPr>
        </p:nvSpPr>
        <p:spPr/>
        <p:txBody>
          <a:bodyPr/>
          <a:lstStyle/>
          <a:p>
            <a:r>
              <a:rPr lang="en-US" b="1" dirty="0"/>
              <a:t>Conclusion &amp; Future Work</a:t>
            </a:r>
          </a:p>
        </p:txBody>
      </p:sp>
      <p:sp>
        <p:nvSpPr>
          <p:cNvPr id="3" name="Content Placeholder 2">
            <a:extLst>
              <a:ext uri="{FF2B5EF4-FFF2-40B4-BE49-F238E27FC236}">
                <a16:creationId xmlns:a16="http://schemas.microsoft.com/office/drawing/2014/main" id="{89F109D8-E270-F9DF-BF76-85E90F48F84D}"/>
              </a:ext>
            </a:extLst>
          </p:cNvPr>
          <p:cNvSpPr>
            <a:spLocks noGrp="1"/>
          </p:cNvSpPr>
          <p:nvPr>
            <p:ph sz="half" idx="1"/>
          </p:nvPr>
        </p:nvSpPr>
        <p:spPr>
          <a:xfrm>
            <a:off x="1141410" y="2249485"/>
            <a:ext cx="4878389" cy="4279783"/>
          </a:xfrm>
        </p:spPr>
        <p:txBody>
          <a:bodyPr>
            <a:normAutofit fontScale="92500" lnSpcReduction="20000"/>
          </a:bodyPr>
          <a:lstStyle/>
          <a:p>
            <a:pPr marL="0" indent="0">
              <a:buNone/>
            </a:pPr>
            <a:r>
              <a:rPr lang="en-US" b="1" u="sng" dirty="0"/>
              <a:t>Conclusion</a:t>
            </a:r>
            <a:r>
              <a:rPr lang="en-US" u="sng" dirty="0"/>
              <a:t> </a:t>
            </a:r>
          </a:p>
          <a:p>
            <a:r>
              <a:rPr lang="en-US" dirty="0"/>
              <a:t>SSL + FSL + RL framework → </a:t>
            </a:r>
            <a:r>
              <a:rPr lang="en-US" b="1" dirty="0"/>
              <a:t>72.5% accuracy</a:t>
            </a:r>
            <a:r>
              <a:rPr lang="en-US" dirty="0"/>
              <a:t>, close to CNN (78%)</a:t>
            </a:r>
          </a:p>
          <a:p>
            <a:r>
              <a:rPr lang="en-US" dirty="0"/>
              <a:t>Requires </a:t>
            </a:r>
            <a:r>
              <a:rPr lang="en-US" b="1" dirty="0"/>
              <a:t>87% fewer labels</a:t>
            </a:r>
            <a:r>
              <a:rPr lang="en-US" dirty="0"/>
              <a:t> (32 vs 252)</a:t>
            </a:r>
          </a:p>
          <a:p>
            <a:r>
              <a:rPr lang="en-US" b="1" dirty="0"/>
              <a:t>3.6× smaller</a:t>
            </a:r>
            <a:r>
              <a:rPr lang="en-US" dirty="0"/>
              <a:t> model, </a:t>
            </a:r>
            <a:r>
              <a:rPr lang="en-US" b="1" dirty="0"/>
              <a:t>15× faster training</a:t>
            </a:r>
            <a:endParaRPr lang="en-US" dirty="0"/>
          </a:p>
          <a:p>
            <a:r>
              <a:rPr lang="en-US" dirty="0"/>
              <a:t>RL enables </a:t>
            </a:r>
            <a:r>
              <a:rPr lang="en-US" b="1" dirty="0"/>
              <a:t>continual adaptation</a:t>
            </a:r>
            <a:r>
              <a:rPr lang="en-US" dirty="0"/>
              <a:t> to new anomalies</a:t>
            </a:r>
          </a:p>
          <a:p>
            <a:r>
              <a:rPr lang="en-US" dirty="0"/>
              <a:t>Practical for </a:t>
            </a:r>
            <a:r>
              <a:rPr lang="en-US" b="1" dirty="0"/>
              <a:t>resource-constrained edge IIoT systems</a:t>
            </a:r>
            <a:endParaRPr lang="en-US" dirty="0"/>
          </a:p>
        </p:txBody>
      </p:sp>
      <p:sp>
        <p:nvSpPr>
          <p:cNvPr id="4" name="Content Placeholder 3">
            <a:extLst>
              <a:ext uri="{FF2B5EF4-FFF2-40B4-BE49-F238E27FC236}">
                <a16:creationId xmlns:a16="http://schemas.microsoft.com/office/drawing/2014/main" id="{33638332-045E-EE59-E6C1-80A6B86FD76B}"/>
              </a:ext>
            </a:extLst>
          </p:cNvPr>
          <p:cNvSpPr>
            <a:spLocks noGrp="1"/>
          </p:cNvSpPr>
          <p:nvPr>
            <p:ph sz="half" idx="2"/>
          </p:nvPr>
        </p:nvSpPr>
        <p:spPr>
          <a:xfrm>
            <a:off x="6172200" y="2249486"/>
            <a:ext cx="4875211" cy="4279782"/>
          </a:xfrm>
        </p:spPr>
        <p:txBody>
          <a:bodyPr>
            <a:normAutofit fontScale="92500" lnSpcReduction="20000"/>
          </a:bodyPr>
          <a:lstStyle/>
          <a:p>
            <a:pPr marL="0" indent="0">
              <a:buNone/>
            </a:pPr>
            <a:r>
              <a:rPr lang="en-US" b="1" u="sng" dirty="0"/>
              <a:t>Future Work</a:t>
            </a:r>
          </a:p>
          <a:p>
            <a:r>
              <a:rPr lang="en-US" dirty="0"/>
              <a:t>Extend </a:t>
            </a:r>
            <a:r>
              <a:rPr lang="en-US" b="1" dirty="0"/>
              <a:t>SSL pretraining </a:t>
            </a:r>
            <a:r>
              <a:rPr lang="en-US" dirty="0"/>
              <a:t>and explore new methods </a:t>
            </a:r>
          </a:p>
          <a:p>
            <a:r>
              <a:rPr lang="en-US" dirty="0"/>
              <a:t>Conduct </a:t>
            </a:r>
            <a:r>
              <a:rPr lang="en-US" b="1" dirty="0"/>
              <a:t>systematic</a:t>
            </a:r>
            <a:r>
              <a:rPr lang="en-US" dirty="0"/>
              <a:t> experiments </a:t>
            </a:r>
          </a:p>
          <a:p>
            <a:r>
              <a:rPr lang="en-US" dirty="0"/>
              <a:t>Validate on </a:t>
            </a:r>
            <a:r>
              <a:rPr lang="en-US" b="1" dirty="0"/>
              <a:t>real edge hardware </a:t>
            </a:r>
            <a:r>
              <a:rPr lang="en-US" dirty="0"/>
              <a:t>(Raspberry Pi, Jetson Nano)</a:t>
            </a:r>
          </a:p>
          <a:p>
            <a:r>
              <a:rPr lang="en-US" dirty="0"/>
              <a:t>Apply </a:t>
            </a:r>
            <a:r>
              <a:rPr lang="en-US" b="1" dirty="0"/>
              <a:t>compression</a:t>
            </a:r>
            <a:r>
              <a:rPr lang="en-US" dirty="0"/>
              <a:t> (quantization-aware training, pruning)</a:t>
            </a:r>
          </a:p>
          <a:p>
            <a:r>
              <a:rPr lang="en-US" dirty="0"/>
              <a:t>Test </a:t>
            </a:r>
            <a:r>
              <a:rPr lang="en-US" b="1" dirty="0"/>
              <a:t>long-term RL adaptation </a:t>
            </a:r>
            <a:r>
              <a:rPr lang="en-US" dirty="0"/>
              <a:t>with human-in-the-loop</a:t>
            </a:r>
          </a:p>
        </p:txBody>
      </p:sp>
      <p:pic>
        <p:nvPicPr>
          <p:cNvPr id="12" name="Picture 11" descr="A group of wooden tiles with letters on them&#10;&#10;AI-generated content may be incorrect.">
            <a:extLst>
              <a:ext uri="{FF2B5EF4-FFF2-40B4-BE49-F238E27FC236}">
                <a16:creationId xmlns:a16="http://schemas.microsoft.com/office/drawing/2014/main" id="{9151CE00-AF11-31F2-DBE5-117FE78AECE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929381" y="687125"/>
            <a:ext cx="1950720" cy="1301496"/>
          </a:xfrm>
          <a:prstGeom prst="rect">
            <a:avLst/>
          </a:prstGeom>
        </p:spPr>
      </p:pic>
    </p:spTree>
    <p:extLst>
      <p:ext uri="{BB962C8B-B14F-4D97-AF65-F5344CB8AC3E}">
        <p14:creationId xmlns:p14="http://schemas.microsoft.com/office/powerpoint/2010/main" val="289314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E2014-FFD0-CFF3-74A4-28C8F7FA1FC3}"/>
              </a:ext>
            </a:extLst>
          </p:cNvPr>
          <p:cNvSpPr>
            <a:spLocks noGrp="1"/>
          </p:cNvSpPr>
          <p:nvPr>
            <p:ph type="title"/>
          </p:nvPr>
        </p:nvSpPr>
        <p:spPr>
          <a:xfrm>
            <a:off x="1143001" y="2568230"/>
            <a:ext cx="9905998" cy="1478570"/>
          </a:xfrm>
        </p:spPr>
        <p:txBody>
          <a:bodyPr>
            <a:normAutofit/>
          </a:bodyPr>
          <a:lstStyle/>
          <a:p>
            <a:pPr algn="ctr"/>
            <a:r>
              <a:rPr lang="en-US" sz="6900" i="1" dirty="0"/>
              <a:t>Q&amp;A</a:t>
            </a:r>
            <a:endParaRPr lang="en-US" sz="6900" dirty="0"/>
          </a:p>
        </p:txBody>
      </p:sp>
      <p:pic>
        <p:nvPicPr>
          <p:cNvPr id="3" name="Picture 2" descr="A logo of a globe with yellow rings around it&#10;&#10;Description automatically generated">
            <a:extLst>
              <a:ext uri="{FF2B5EF4-FFF2-40B4-BE49-F238E27FC236}">
                <a16:creationId xmlns:a16="http://schemas.microsoft.com/office/drawing/2014/main" id="{B41791E5-27A1-2C93-8FCC-2D3073CD748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566" r="4610"/>
          <a:stretch>
            <a:fillRect/>
          </a:stretch>
        </p:blipFill>
        <p:spPr bwMode="auto">
          <a:xfrm>
            <a:off x="10317706" y="91806"/>
            <a:ext cx="1684269" cy="16366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47540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3.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Circuit design</Template>
  <TotalTime>392</TotalTime>
  <Words>2391</Words>
  <Application>Microsoft Office PowerPoint</Application>
  <PresentationFormat>Widescreen</PresentationFormat>
  <Paragraphs>175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Tw Cen MT</vt:lpstr>
      <vt:lpstr>Circuit</vt:lpstr>
      <vt:lpstr>Self-Supervised Few-Shot  Reinforcement Learning  for Scalable and Adaptive  Anomaly Detection in  Edge-Based Industrial IoT Systems</vt:lpstr>
      <vt:lpstr>Industrial IoT (IIoT) and Anomaly Detection</vt:lpstr>
      <vt:lpstr>Challenges in Current IIoT Anomaly Detection</vt:lpstr>
      <vt:lpstr>Key Research Questions</vt:lpstr>
      <vt:lpstr>Research Aim and Objectives</vt:lpstr>
      <vt:lpstr>Proposed SSL + FSL + RL Framework</vt:lpstr>
      <vt:lpstr>Research Methodology</vt:lpstr>
      <vt:lpstr>Results – CNN vs SSL + FSL + RL</vt:lpstr>
      <vt:lpstr>Research Limitations</vt:lpstr>
      <vt:lpstr>Conclusion &amp; Future Work</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 KIEN LOONG</dc:creator>
  <cp:lastModifiedBy>NG KIEN LOONG</cp:lastModifiedBy>
  <cp:revision>19</cp:revision>
  <dcterms:created xsi:type="dcterms:W3CDTF">2025-09-28T11:42:51Z</dcterms:created>
  <dcterms:modified xsi:type="dcterms:W3CDTF">2025-09-28T18:15:32Z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