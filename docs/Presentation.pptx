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16"/>
  </p:notesMasterIdLst>
  <p:sldIdLst>
    <p:sldId id="261" r:id="rId5"/>
    <p:sldId id="263" r:id="rId6"/>
    <p:sldId id="264" r:id="rId7"/>
    <p:sldId id="266" r:id="rId8"/>
    <p:sldId id="265" r:id="rId9"/>
    <p:sldId id="267" r:id="rId10"/>
    <p:sldId id="268" r:id="rId11"/>
    <p:sldId id="269" r:id="rId12"/>
    <p:sldId id="270" r:id="rId13"/>
    <p:sldId id="271" r:id="rId14"/>
    <p:sldId id="272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39" autoAdjust="0"/>
    <p:restoredTop sz="96622" autoAdjust="0"/>
  </p:normalViewPr>
  <p:slideViewPr>
    <p:cSldViewPr snapToGrid="0">
      <p:cViewPr varScale="1">
        <p:scale>
          <a:sx n="117" d="100"/>
          <a:sy n="117" d="100"/>
        </p:scale>
        <p:origin x="691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A75990-A4A1-4DDE-AA8D-73E60A452DD0}" type="datetimeFigureOut">
              <a:rPr lang="en-US" smtClean="0"/>
              <a:t>9/29/2025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75CD8D-B1D9-4658-A4F0-38CA8D83ED5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09802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75CD8D-B1D9-4658-A4F0-38CA8D83ED5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35076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75CD8D-B1D9-4658-A4F0-38CA8D83ED5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65973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75CD8D-B1D9-4658-A4F0-38CA8D83ED5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952859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70FC7-E430-FFFE-DD71-D16EFDFDC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81E092-57D9-824C-C5F0-DEC5091F97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50A700C-D8EC-12B7-B9A0-58E48E83A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D4CB8F-490E-AF0A-EB0F-F47AE4544B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75CD8D-B1D9-4658-A4F0-38CA8D83ED5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4986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75CD8D-B1D9-4658-A4F0-38CA8D83ED5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311650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75CD8D-B1D9-4658-A4F0-38CA8D83ED5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2242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75CD8D-B1D9-4658-A4F0-38CA8D83ED5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20705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75CD8D-B1D9-4658-A4F0-38CA8D83ED5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7168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5E9C5-B396-77D1-A801-9CF1883FC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7C2271-32A0-AE8C-31F9-BA32323A97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12384B-EFBA-74E5-A3FB-1BFD5DE180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99F95A-3004-97CD-254E-2162DB611D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75CD8D-B1D9-4658-A4F0-38CA8D83ED5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99575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75CD8D-B1D9-4658-A4F0-38CA8D83ED5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02762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275CD8D-B1D9-4658-A4F0-38CA8D83ED5D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22899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808C238F-B856-42A4-BC32-194DCC130D5F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1CB5-A088-4DB4-8A5C-B084F9B2B528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3C1328-ADC8-435B-8F5C-D339CD9DD487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56410-64C5-4311-8359-FDA6B61ABBAE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18B01E-6E1B-4AFC-A690-27C447C9486E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52F3D2-503A-4E49-99AD-125A054E178F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66207-223C-48E4-AE22-548ABC801447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941151-B38C-4230-91F0-8A3BB69A056C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F6EA29-EE45-46F5-8084-6929433FA14E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872680-3826-48D8-A0B9-F293E3A564DD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C0F02A-B435-4587-AE10-6A02865845FD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DF27A1-9C29-4918-BA16-87149545F673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EEE601-4D27-49FF-B099-2799466F7EDA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52469-603F-4B0F-8F23-6B2B143D5424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7781E0-05FC-475E-A14D-85EF9B55E67B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8D02C8-8352-4A2E-A3CD-139A8583C932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80581-4B77-41E9-BE55-C3C9C3900A2A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67B94D-50C4-4558-AAA1-857DDB1A21EF}" type="datetime1">
              <a:rPr lang="en-US" smtClean="0"/>
              <a:t>9/29/2025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6" r:id="rId12"/>
    <p:sldLayoutId id="2147483663" r:id="rId13"/>
    <p:sldLayoutId id="2147483667" r:id="rId14"/>
    <p:sldLayoutId id="2147483668" r:id="rId15"/>
    <p:sldLayoutId id="2147483658" r:id="rId16"/>
    <p:sldLayoutId id="2147483659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eg"/><Relationship Id="rId5" Type="http://schemas.openxmlformats.org/officeDocument/2006/relationships/image" Target="../media/image3.jpe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weeblytutorials.com/web-analytic-tools/" TargetMode="External"/><Relationship Id="rId3" Type="http://schemas.openxmlformats.org/officeDocument/2006/relationships/image" Target="../media/image5.jpg"/><Relationship Id="rId7" Type="http://schemas.openxmlformats.org/officeDocument/2006/relationships/image" Target="../media/image7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6" Type="http://schemas.openxmlformats.org/officeDocument/2006/relationships/hyperlink" Target="https://www.konstruktionspraxis.vogel.de/wie-optimale-partnerschaften-fuer-mehr-kundennutzen-sorgen-a-5552c3eab74fe6a46f2d13f2147a4584/" TargetMode="External"/><Relationship Id="rId5" Type="http://schemas.openxmlformats.org/officeDocument/2006/relationships/image" Target="../media/image6.jpeg"/><Relationship Id="rId4" Type="http://schemas.openxmlformats.org/officeDocument/2006/relationships/hyperlink" Target="https://www.picpedia.org/post-it-note/a/anomaly.html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uscdcb.com/system-downtime-next-week-schedule-change/" TargetMode="External"/><Relationship Id="rId5" Type="http://schemas.openxmlformats.org/officeDocument/2006/relationships/image" Target="../media/image9.jpg"/><Relationship Id="rId4" Type="http://schemas.openxmlformats.org/officeDocument/2006/relationships/hyperlink" Target="https://www.wepc.com/tips/cpu-gpu-bottleneck/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4.xml"/><Relationship Id="rId4" Type="http://schemas.openxmlformats.org/officeDocument/2006/relationships/hyperlink" Target="https://mitchtublin.com/planning-ahead/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dpi.com/2504-4494/8/3/117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aavidng/project/blob/main/README.md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hyperlink" Target="https://www.youtube.com/watch?v=J6Zl3VGlLsE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g"/><Relationship Id="rId5" Type="http://schemas.openxmlformats.org/officeDocument/2006/relationships/hyperlink" Target="https://freepngimg.com/svg/color/008000/122221-keep-distance-warning" TargetMode="External"/><Relationship Id="rId4" Type="http://schemas.openxmlformats.org/officeDocument/2006/relationships/image" Target="../media/image12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palmistryforyou.com/2012/02/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AD579530-1077-46B3-BD5C-81BB270A1D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78" name="Rectangle 77">
              <a:extLst>
                <a:ext uri="{FF2B5EF4-FFF2-40B4-BE49-F238E27FC236}">
                  <a16:creationId xmlns:a16="http://schemas.microsoft.com/office/drawing/2014/main" id="{ACBB106A-B366-4349-B59F-E8FBDADD82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9" name="Picture 2">
              <a:extLst>
                <a:ext uri="{FF2B5EF4-FFF2-40B4-BE49-F238E27FC236}">
                  <a16:creationId xmlns:a16="http://schemas.microsoft.com/office/drawing/2014/main" id="{113FC03B-24E4-4A3F-9626-CC7F6356BC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4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5" name="Picture 4" descr="close up of circuit board">
            <a:extLst>
              <a:ext uri="{FF2B5EF4-FFF2-40B4-BE49-F238E27FC236}">
                <a16:creationId xmlns:a16="http://schemas.microsoft.com/office/drawing/2014/main" id="{525AE681-57C0-4C44-9E88-A16CDA016EB3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alphaModFix amt="30000"/>
          </a:blip>
          <a:srcRect t="6504" b="9202"/>
          <a:stretch/>
        </p:blipFill>
        <p:spPr>
          <a:xfrm>
            <a:off x="-2" y="10"/>
            <a:ext cx="12188389" cy="6857990"/>
          </a:xfrm>
          <a:prstGeom prst="rect">
            <a:avLst/>
          </a:prstGeom>
        </p:spPr>
      </p:pic>
      <p:grpSp>
        <p:nvGrpSpPr>
          <p:cNvPr id="81" name="Group 80">
            <a:extLst>
              <a:ext uri="{FF2B5EF4-FFF2-40B4-BE49-F238E27FC236}">
                <a16:creationId xmlns:a16="http://schemas.microsoft.com/office/drawing/2014/main" id="{83F79A5F-63B5-4802-B39B-BF0F89DDDA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605895" y="2235200"/>
            <a:ext cx="10982062" cy="2396067"/>
            <a:chOff x="605895" y="2235200"/>
            <a:chExt cx="10982062" cy="2396067"/>
          </a:xfrm>
        </p:grpSpPr>
        <p:sp>
          <p:nvSpPr>
            <p:cNvPr id="82" name="Round Diagonal Corner Rectangle 7">
              <a:extLst>
                <a:ext uri="{FF2B5EF4-FFF2-40B4-BE49-F238E27FC236}">
                  <a16:creationId xmlns:a16="http://schemas.microsoft.com/office/drawing/2014/main" id="{00D14BF7-A799-4EDA-8C19-CED0B8EC52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82333" y="2235200"/>
              <a:ext cx="7027334" cy="2396067"/>
            </a:xfrm>
            <a:prstGeom prst="round2DiagRect">
              <a:avLst>
                <a:gd name="adj1" fmla="val 9246"/>
                <a:gd name="adj2" fmla="val 0"/>
              </a:avLst>
            </a:prstGeom>
            <a:solidFill>
              <a:schemeClr val="bg1">
                <a:alpha val="80000"/>
              </a:schemeClr>
            </a:solidFill>
            <a:ln w="19050" cap="sq">
              <a:solidFill>
                <a:schemeClr val="tx2">
                  <a:alpha val="60000"/>
                </a:schemeClr>
              </a:solidFill>
              <a:miter lim="800000"/>
            </a:ln>
            <a:effectLst>
              <a:outerShdw blurRad="88900" dist="38100" dir="5400000" algn="t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AF292344-73C8-4E53-85C0-8CDB23EB53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605895" y="2900097"/>
              <a:ext cx="10982062" cy="1211524"/>
              <a:chOff x="605895" y="2900097"/>
              <a:chExt cx="10982062" cy="1211524"/>
            </a:xfrm>
          </p:grpSpPr>
          <p:sp>
            <p:nvSpPr>
              <p:cNvPr id="84" name="Freeform 32">
                <a:extLst>
                  <a:ext uri="{FF2B5EF4-FFF2-40B4-BE49-F238E27FC236}">
                    <a16:creationId xmlns:a16="http://schemas.microsoft.com/office/drawing/2014/main" id="{4781E776-A0A7-4FB6-958B-8389BBA569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9653587" y="33797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5" name="Freeform 33">
                <a:extLst>
                  <a:ext uri="{FF2B5EF4-FFF2-40B4-BE49-F238E27FC236}">
                    <a16:creationId xmlns:a16="http://schemas.microsoft.com/office/drawing/2014/main" id="{0F004D56-F177-45BC-8965-B72DB88A085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078244" y="33107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6" name="Freeform 34">
                <a:extLst>
                  <a:ext uri="{FF2B5EF4-FFF2-40B4-BE49-F238E27FC236}">
                    <a16:creationId xmlns:a16="http://schemas.microsoft.com/office/drawing/2014/main" id="{5F2F1F83-817B-4678-B0AE-8FFDC49FC82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1146631" y="35742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7" name="Freeform 37">
                <a:extLst>
                  <a:ext uri="{FF2B5EF4-FFF2-40B4-BE49-F238E27FC236}">
                    <a16:creationId xmlns:a16="http://schemas.microsoft.com/office/drawing/2014/main" id="{F908EB47-32F4-4E82-BF56-FD25BB07474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 flipV="1">
                <a:off x="10230644" y="30345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8" name="Freeform 35">
                <a:extLst>
                  <a:ext uri="{FF2B5EF4-FFF2-40B4-BE49-F238E27FC236}">
                    <a16:creationId xmlns:a16="http://schemas.microsoft.com/office/drawing/2014/main" id="{0966000D-B975-4E8A-9BF2-EACF2164050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034587" y="25627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89" name="Freeform 36">
                <a:extLst>
                  <a:ext uri="{FF2B5EF4-FFF2-40B4-BE49-F238E27FC236}">
                    <a16:creationId xmlns:a16="http://schemas.microsoft.com/office/drawing/2014/main" id="{A9554499-6796-4AEE-B012-34A5B9A585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747375" y="32326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0" name="Freeform 38">
                <a:extLst>
                  <a:ext uri="{FF2B5EF4-FFF2-40B4-BE49-F238E27FC236}">
                    <a16:creationId xmlns:a16="http://schemas.microsoft.com/office/drawing/2014/main" id="{9DD40864-34BD-491F-B591-180E7B32C12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1399044" y="30953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1" name="Freeform 39">
                <a:extLst>
                  <a:ext uri="{FF2B5EF4-FFF2-40B4-BE49-F238E27FC236}">
                    <a16:creationId xmlns:a16="http://schemas.microsoft.com/office/drawing/2014/main" id="{2623F54C-4373-4D30-90DB-3129BDDF54A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10353675" y="21531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2" name="Freeform 40">
                <a:extLst>
                  <a:ext uri="{FF2B5EF4-FFF2-40B4-BE49-F238E27FC236}">
                    <a16:creationId xmlns:a16="http://schemas.microsoft.com/office/drawing/2014/main" id="{1FF42884-D4B2-462F-9FA7-4FA89253224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848850" y="33088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3" name="Rectangle 41">
                <a:extLst>
                  <a:ext uri="{FF2B5EF4-FFF2-40B4-BE49-F238E27FC236}">
                    <a16:creationId xmlns:a16="http://schemas.microsoft.com/office/drawing/2014/main" id="{27F4D4BA-37F5-4D54-BDFF-733F621D5D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5400000">
                <a:off x="9721056" y="32842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4" name="Freeform 32">
                <a:extLst>
                  <a:ext uri="{FF2B5EF4-FFF2-40B4-BE49-F238E27FC236}">
                    <a16:creationId xmlns:a16="http://schemas.microsoft.com/office/drawing/2014/main" id="{29E4A0E5-0441-4563-A947-12A5781105E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2122751" y="3532184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5" name="Freeform 33">
                <a:extLst>
                  <a:ext uri="{FF2B5EF4-FFF2-40B4-BE49-F238E27FC236}">
                    <a16:creationId xmlns:a16="http://schemas.microsoft.com/office/drawing/2014/main" id="{4A8D89B4-AD1B-410A-870B-1042E075A0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958445" y="3463128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6" name="Freeform 34">
                <a:extLst>
                  <a:ext uri="{FF2B5EF4-FFF2-40B4-BE49-F238E27FC236}">
                    <a16:creationId xmlns:a16="http://schemas.microsoft.com/office/drawing/2014/main" id="{DFC54570-9F45-44E6-AC94-4B3192D44B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858308" y="3726653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7" name="Freeform 37">
                <a:extLst>
                  <a:ext uri="{FF2B5EF4-FFF2-40B4-BE49-F238E27FC236}">
                    <a16:creationId xmlns:a16="http://schemas.microsoft.com/office/drawing/2014/main" id="{A976F76C-4BBB-4CD4-9270-5E4E8802BF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 flipV="1">
                <a:off x="1658407" y="3186902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8" name="Freeform 35">
                <a:extLst>
                  <a:ext uri="{FF2B5EF4-FFF2-40B4-BE49-F238E27FC236}">
                    <a16:creationId xmlns:a16="http://schemas.microsoft.com/office/drawing/2014/main" id="{06081E5F-35E2-4E9E-A0DA-9E2F769C4CE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860814" y="271515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99" name="Freeform 36">
                <a:extLst>
                  <a:ext uri="{FF2B5EF4-FFF2-40B4-BE49-F238E27FC236}">
                    <a16:creationId xmlns:a16="http://schemas.microsoft.com/office/drawing/2014/main" id="{7B7B4F78-1391-433D-AAE5-0FA8B8EE181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289314" y="3385079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0" name="Freeform 38">
                <a:extLst>
                  <a:ext uri="{FF2B5EF4-FFF2-40B4-BE49-F238E27FC236}">
                    <a16:creationId xmlns:a16="http://schemas.microsoft.com/office/drawing/2014/main" id="{EF63F42B-29ED-4285-99D1-5FA657DA929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605895" y="3247760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1" name="Freeform 39">
                <a:extLst>
                  <a:ext uri="{FF2B5EF4-FFF2-40B4-BE49-F238E27FC236}">
                    <a16:creationId xmlns:a16="http://schemas.microsoft.com/office/drawing/2014/main" id="{EB7A6053-A7CF-4785-B396-6F70D6EBE9B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1532202" y="2305578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2" name="Freeform 40">
                <a:extLst>
                  <a:ext uri="{FF2B5EF4-FFF2-40B4-BE49-F238E27FC236}">
                    <a16:creationId xmlns:a16="http://schemas.microsoft.com/office/drawing/2014/main" id="{E6337518-A10D-47A5-BD86-6D1F3FAF3C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154501" y="346127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103" name="Rectangle 41">
                <a:extLst>
                  <a:ext uri="{FF2B5EF4-FFF2-40B4-BE49-F238E27FC236}">
                    <a16:creationId xmlns:a16="http://schemas.microsoft.com/office/drawing/2014/main" id="{7591C37F-6498-4992-992D-D413A84752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 rot="16200000" flipH="1">
                <a:off x="2448983" y="3436672"/>
                <a:ext cx="23813" cy="252413"/>
              </a:xfrm>
              <a:prstGeom prst="rect">
                <a:avLst/>
              </a:prstGeom>
              <a:solidFill>
                <a:schemeClr val="tx2">
                  <a:alpha val="60000"/>
                </a:schemeClr>
              </a:solidFill>
              <a:ln>
                <a:noFill/>
              </a:ln>
              <a:effectLst>
                <a:outerShdw blurRad="50800" dist="38100" dir="2700000" algn="tl" rotWithShape="0">
                  <a:srgbClr val="000000">
                    <a:alpha val="58000"/>
                  </a:srgbClr>
                </a:outerShdw>
              </a:effectLst>
            </p:spPr>
            <p:txBody>
              <a:bodyPr/>
              <a:lstStyle/>
              <a:p>
                <a:endParaRPr lang="en-US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D476017-D224-40AE-B921-6752545015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67000" y="2328334"/>
            <a:ext cx="6858000" cy="2250490"/>
          </a:xfrm>
        </p:spPr>
        <p:txBody>
          <a:bodyPr>
            <a:noAutofit/>
          </a:bodyPr>
          <a:lstStyle/>
          <a:p>
            <a:r>
              <a:rPr lang="en-US" sz="3200" b="1" i="1" dirty="0"/>
              <a:t>Self-Supervised Few-Shot </a:t>
            </a:r>
            <a:br>
              <a:rPr lang="en-US" sz="3200" b="1" i="1" dirty="0"/>
            </a:br>
            <a:r>
              <a:rPr lang="en-US" sz="3200" b="1" i="1" dirty="0"/>
              <a:t>Reinforcement Learning </a:t>
            </a:r>
            <a:br>
              <a:rPr lang="en-US" sz="3200" b="1" i="1" dirty="0"/>
            </a:br>
            <a:r>
              <a:rPr lang="en-US" sz="3200" b="1" i="1" dirty="0"/>
              <a:t>for Scalable and Adaptive </a:t>
            </a:r>
            <a:br>
              <a:rPr lang="en-US" sz="3200" b="1" i="1" dirty="0"/>
            </a:br>
            <a:r>
              <a:rPr lang="en-US" sz="3200" b="1" i="1" dirty="0"/>
              <a:t>Anomaly Detection in </a:t>
            </a:r>
            <a:br>
              <a:rPr lang="en-US" sz="3200" b="1" i="1" dirty="0"/>
            </a:br>
            <a:r>
              <a:rPr lang="en-US" sz="3200" b="1" i="1" dirty="0"/>
              <a:t>Edge-Based Industrial IoT Systems</a:t>
            </a:r>
            <a:endParaRPr lang="en-US" sz="3200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F013D4-CBD9-4FC1-AF91-2301A70448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42166" y="5227983"/>
            <a:ext cx="6857999" cy="1456440"/>
          </a:xfrm>
        </p:spPr>
        <p:txBody>
          <a:bodyPr>
            <a:normAutofit/>
          </a:bodyPr>
          <a:lstStyle/>
          <a:p>
            <a:r>
              <a:rPr lang="en-US" dirty="0"/>
              <a:t>STUDENT: Ng Kien Loong (TP078627)</a:t>
            </a:r>
          </a:p>
          <a:p>
            <a:r>
              <a:rPr lang="en-US" dirty="0"/>
              <a:t>Supervisor : Assoc. Prof. Dr. Raja Rajeswari</a:t>
            </a:r>
          </a:p>
          <a:p>
            <a:r>
              <a:rPr lang="en-US" dirty="0"/>
              <a:t>Co-supervisor : Assoc. Prof. Dr. V. Sivakumar</a:t>
            </a:r>
          </a:p>
        </p:txBody>
      </p:sp>
      <p:pic>
        <p:nvPicPr>
          <p:cNvPr id="7" name="Picture 6" descr="A logo of a globe with yellow rings around it&#10;&#10;Description automatically generated">
            <a:extLst>
              <a:ext uri="{FF2B5EF4-FFF2-40B4-BE49-F238E27FC236}">
                <a16:creationId xmlns:a16="http://schemas.microsoft.com/office/drawing/2014/main" id="{7E10F1E2-E0D9-5C90-D1CB-85B275274245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66" r="4610"/>
          <a:stretch>
            <a:fillRect/>
          </a:stretch>
        </p:blipFill>
        <p:spPr bwMode="auto">
          <a:xfrm>
            <a:off x="10317706" y="91806"/>
            <a:ext cx="1684269" cy="163667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8A537F13-8147-787F-4988-AFD14AE5216A}"/>
              </a:ext>
            </a:extLst>
          </p:cNvPr>
          <p:cNvSpPr txBox="1">
            <a:spLocks/>
          </p:cNvSpPr>
          <p:nvPr/>
        </p:nvSpPr>
        <p:spPr>
          <a:xfrm>
            <a:off x="9951615" y="6230413"/>
            <a:ext cx="2004095" cy="5357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None/>
              <a:defRPr sz="2000" kern="1200" cap="all" baseline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September 2025</a:t>
            </a:r>
          </a:p>
        </p:txBody>
      </p:sp>
    </p:spTree>
    <p:extLst>
      <p:ext uri="{BB962C8B-B14F-4D97-AF65-F5344CB8AC3E}">
        <p14:creationId xmlns:p14="http://schemas.microsoft.com/office/powerpoint/2010/main" val="13371922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0BE74-967B-199A-462A-C5F4BDC3CA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977" y="626589"/>
            <a:ext cx="10281961" cy="1905000"/>
          </a:xfrm>
        </p:spPr>
        <p:txBody>
          <a:bodyPr/>
          <a:lstStyle/>
          <a:p>
            <a:r>
              <a:rPr lang="en-US" b="1" dirty="0"/>
              <a:t>Industrial IoT (IIoT) and Anomaly Detection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C2C545-808E-C603-6F7A-779D7E7A5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41410" y="2220717"/>
            <a:ext cx="3196899" cy="1139546"/>
          </a:xfrm>
        </p:spPr>
        <p:txBody>
          <a:bodyPr/>
          <a:lstStyle/>
          <a:p>
            <a:r>
              <a:rPr lang="en-US" dirty="0"/>
              <a:t>IIoT growth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82EA90-D9CE-A3D3-185C-EDFCBAF9CAD2}"/>
              </a:ext>
            </a:extLst>
          </p:cNvPr>
          <p:cNvSpPr>
            <a:spLocks noGrp="1"/>
          </p:cNvSpPr>
          <p:nvPr>
            <p:ph type="body" sz="half" idx="15"/>
          </p:nvPr>
        </p:nvSpPr>
        <p:spPr/>
        <p:txBody>
          <a:bodyPr/>
          <a:lstStyle/>
          <a:p>
            <a:r>
              <a:rPr lang="en-US" dirty="0"/>
              <a:t>Smart factories &amp; connected devices enable real-time monitoring &amp; decision-making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A741FE-FB3B-F760-7752-42BB19DCA7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14766" y="2223889"/>
            <a:ext cx="3184385" cy="1139546"/>
          </a:xfrm>
        </p:spPr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3AC6AAB-2B15-815E-3DDB-E5AF3D2687D9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r>
              <a:rPr lang="en-US" dirty="0"/>
              <a:t>Anomalies such as equipment failures, sensor faults, or cyber-attacks can cause downtime &amp; high costs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EA616052-769C-5405-D3DE-917439BC64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852442" y="2223889"/>
            <a:ext cx="3194968" cy="1136374"/>
          </a:xfrm>
        </p:spPr>
        <p:txBody>
          <a:bodyPr/>
          <a:lstStyle/>
          <a:p>
            <a:r>
              <a:rPr lang="en-US" dirty="0"/>
              <a:t>Limitations of traditional anomaly detection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56A35A1-4D11-10B0-6B40-34FD330EF4F5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Needs large labeled datasets (expensive, impractical)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Usually centralized, high latency, unsuitable for edge devices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Poor at handling dynamic and evolving anomalies</a:t>
            </a:r>
          </a:p>
        </p:txBody>
      </p:sp>
      <p:pic>
        <p:nvPicPr>
          <p:cNvPr id="11" name="Picture 10" descr="A yellow sticky note next to a computer&#10;&#10;AI-generated content may be incorrect.">
            <a:extLst>
              <a:ext uri="{FF2B5EF4-FFF2-40B4-BE49-F238E27FC236}">
                <a16:creationId xmlns:a16="http://schemas.microsoft.com/office/drawing/2014/main" id="{09F68461-CDC2-9442-E09A-F0AAFF930C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428381" y="5340625"/>
            <a:ext cx="1704561" cy="1136374"/>
          </a:xfrm>
          <a:prstGeom prst="rect">
            <a:avLst/>
          </a:prstGeom>
        </p:spPr>
      </p:pic>
      <p:pic>
        <p:nvPicPr>
          <p:cNvPr id="14" name="Picture 13" descr="A hand holding a robotic arm&#10;&#10;AI-generated content may be incorrect.">
            <a:extLst>
              <a:ext uri="{FF2B5EF4-FFF2-40B4-BE49-F238E27FC236}">
                <a16:creationId xmlns:a16="http://schemas.microsoft.com/office/drawing/2014/main" id="{CF07A42B-DB00-2A52-D4A8-87D41313D02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1333500" y="4707144"/>
            <a:ext cx="2430120" cy="1331706"/>
          </a:xfrm>
          <a:prstGeom prst="rect">
            <a:avLst/>
          </a:prstGeom>
        </p:spPr>
      </p:pic>
      <p:pic>
        <p:nvPicPr>
          <p:cNvPr id="16" name="Picture 15" descr="A person walking on a blue arrow over a word&#10;&#10;AI-generated content may be incorrect.">
            <a:extLst>
              <a:ext uri="{FF2B5EF4-FFF2-40B4-BE49-F238E27FC236}">
                <a16:creationId xmlns:a16="http://schemas.microsoft.com/office/drawing/2014/main" id="{67FF8DC6-CF36-7CEB-FF8D-B2EC5EEE7921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4794858" y="4565647"/>
            <a:ext cx="2023441" cy="1549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12981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EDBFE-17E9-F895-2EA3-9EAF0654D3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413" y="625145"/>
            <a:ext cx="10798796" cy="1478570"/>
          </a:xfrm>
        </p:spPr>
        <p:txBody>
          <a:bodyPr/>
          <a:lstStyle/>
          <a:p>
            <a:r>
              <a:rPr lang="en-US" b="1" dirty="0"/>
              <a:t>Challenges in Current IIoT Anomaly Detection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587D58-CB11-DE93-17C5-DE02BDF43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b="1" dirty="0"/>
              <a:t>Dependence on labeled data</a:t>
            </a:r>
            <a:endParaRPr lang="en-US" dirty="0"/>
          </a:p>
          <a:p>
            <a:pPr lvl="1"/>
            <a:r>
              <a:rPr lang="en-US" dirty="0"/>
              <a:t>Industrial anomalies are rare &amp; labeling is costly</a:t>
            </a:r>
          </a:p>
          <a:p>
            <a:pPr lvl="1"/>
            <a:r>
              <a:rPr lang="en-US" dirty="0"/>
              <a:t>Limits scalability in real-world IIoT</a:t>
            </a:r>
          </a:p>
          <a:p>
            <a:r>
              <a:rPr lang="en-US" b="1" dirty="0"/>
              <a:t>Centralized model limitations</a:t>
            </a:r>
            <a:endParaRPr lang="en-US" dirty="0"/>
          </a:p>
          <a:p>
            <a:pPr lvl="1"/>
            <a:r>
              <a:rPr lang="en-US" dirty="0"/>
              <a:t>Cloud-based approaches = </a:t>
            </a:r>
            <a:r>
              <a:rPr lang="en-US" b="1" dirty="0"/>
              <a:t>high latency &amp; poor scalability</a:t>
            </a:r>
            <a:r>
              <a:rPr lang="en-US" dirty="0"/>
              <a:t> at the edge</a:t>
            </a:r>
          </a:p>
          <a:p>
            <a:pPr lvl="1"/>
            <a:r>
              <a:rPr lang="en-US" dirty="0"/>
              <a:t>Resource-hungry → not suitable for lightweight devices</a:t>
            </a:r>
          </a:p>
          <a:p>
            <a:r>
              <a:rPr lang="en-US" b="1" dirty="0"/>
              <a:t>Static models</a:t>
            </a:r>
            <a:endParaRPr lang="en-US" dirty="0"/>
          </a:p>
          <a:p>
            <a:pPr lvl="1"/>
            <a:r>
              <a:rPr lang="en-US" dirty="0"/>
              <a:t>Trained on historical data → fail to adapt to evolving industrial processes</a:t>
            </a:r>
          </a:p>
          <a:p>
            <a:pPr lvl="1"/>
            <a:r>
              <a:rPr lang="en-US" dirty="0"/>
              <a:t>Reduced reliability over time</a:t>
            </a:r>
          </a:p>
        </p:txBody>
      </p:sp>
      <p:pic>
        <p:nvPicPr>
          <p:cNvPr id="5" name="Picture 4" descr="A black and red line drawing of a bottleneck&#10;&#10;AI-generated content may be incorrect.">
            <a:extLst>
              <a:ext uri="{FF2B5EF4-FFF2-40B4-BE49-F238E27FC236}">
                <a16:creationId xmlns:a16="http://schemas.microsoft.com/office/drawing/2014/main" id="{8D3E96A5-B64F-C967-415C-3A8567AC0F2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693428" y="2066337"/>
            <a:ext cx="2522086" cy="1441192"/>
          </a:xfrm>
          <a:prstGeom prst="rect">
            <a:avLst/>
          </a:prstGeom>
        </p:spPr>
      </p:pic>
      <p:pic>
        <p:nvPicPr>
          <p:cNvPr id="7" name="Picture 6" descr="A computer monitor with a cord and a plug&#10;&#10;AI-generated content may be incorrect.">
            <a:extLst>
              <a:ext uri="{FF2B5EF4-FFF2-40B4-BE49-F238E27FC236}">
                <a16:creationId xmlns:a16="http://schemas.microsoft.com/office/drawing/2014/main" id="{24B44A87-235E-B660-358E-A55CC48B10E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9422296" y="4391846"/>
            <a:ext cx="1744110" cy="1447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114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66F788-E684-DC21-9F4C-75A759EB9B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CEECFD-10DF-EA25-EC12-953D4E1C42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55310"/>
            <a:ext cx="9905998" cy="1478570"/>
          </a:xfrm>
        </p:spPr>
        <p:txBody>
          <a:bodyPr/>
          <a:lstStyle/>
          <a:p>
            <a:r>
              <a:rPr lang="en-US" b="1" dirty="0"/>
              <a:t>Key Research Questions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156B30B-A006-2B74-C31C-EBE49B321719}"/>
              </a:ext>
            </a:extLst>
          </p:cNvPr>
          <p:cNvSpPr txBox="1"/>
          <p:nvPr/>
        </p:nvSpPr>
        <p:spPr>
          <a:xfrm>
            <a:off x="672550" y="2058169"/>
            <a:ext cx="331138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dirty="0"/>
              <a:t>How can self-supervised and few-shot reinforcement learning improve anomaly detection in IIoT?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4F0ACDF-143F-A550-D0BD-2DBD793989C6}"/>
              </a:ext>
            </a:extLst>
          </p:cNvPr>
          <p:cNvSpPr txBox="1"/>
          <p:nvPr/>
        </p:nvSpPr>
        <p:spPr>
          <a:xfrm>
            <a:off x="4169464" y="1803075"/>
            <a:ext cx="309603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US" dirty="0"/>
              <a:t>How can the system detect new and evolving anomalies with minimal labeled data?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996BF1-4D67-39D4-55E7-EB625B33FFCA}"/>
              </a:ext>
            </a:extLst>
          </p:cNvPr>
          <p:cNvSpPr txBox="1"/>
          <p:nvPr/>
        </p:nvSpPr>
        <p:spPr>
          <a:xfrm>
            <a:off x="7769085" y="2058169"/>
            <a:ext cx="419431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US" dirty="0"/>
              <a:t>What ensures the scalability and efficiency of the framework in resource-limited edge devices?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CC7601-4584-B754-0D15-9E3426F96573}"/>
              </a:ext>
            </a:extLst>
          </p:cNvPr>
          <p:cNvSpPr txBox="1"/>
          <p:nvPr/>
        </p:nvSpPr>
        <p:spPr>
          <a:xfrm>
            <a:off x="1577007" y="4833256"/>
            <a:ext cx="377687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4"/>
            </a:pPr>
            <a:r>
              <a:rPr lang="en-US" dirty="0"/>
              <a:t>How does this method compare to conventional techniques in terms of accuracy, latency, and adaptability?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D6F78C-787C-1303-564C-22E42514E9E8}"/>
              </a:ext>
            </a:extLst>
          </p:cNvPr>
          <p:cNvSpPr txBox="1"/>
          <p:nvPr/>
        </p:nvSpPr>
        <p:spPr>
          <a:xfrm>
            <a:off x="6031397" y="4892891"/>
            <a:ext cx="428542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US" dirty="0"/>
              <a:t>Who benefits the most from this framework in </a:t>
            </a:r>
            <a:r>
              <a:rPr lang="en-US" b="1" dirty="0"/>
              <a:t>real-world industrial settings</a:t>
            </a:r>
            <a:r>
              <a:rPr lang="en-US" dirty="0"/>
              <a:t>?</a:t>
            </a:r>
          </a:p>
        </p:txBody>
      </p:sp>
      <p:sp>
        <p:nvSpPr>
          <p:cNvPr id="20" name="Cloud 19">
            <a:extLst>
              <a:ext uri="{FF2B5EF4-FFF2-40B4-BE49-F238E27FC236}">
                <a16:creationId xmlns:a16="http://schemas.microsoft.com/office/drawing/2014/main" id="{1A796A99-90E6-F01F-B5B0-9A6D8481EEE8}"/>
              </a:ext>
            </a:extLst>
          </p:cNvPr>
          <p:cNvSpPr/>
          <p:nvPr/>
        </p:nvSpPr>
        <p:spPr>
          <a:xfrm>
            <a:off x="1802295" y="2895600"/>
            <a:ext cx="7712767" cy="1997291"/>
          </a:xfrm>
          <a:prstGeom prst="cloud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r>
              <a:rPr lang="en-US" sz="3200" dirty="0"/>
              <a:t>Research Questions</a:t>
            </a:r>
          </a:p>
        </p:txBody>
      </p:sp>
    </p:spTree>
    <p:extLst>
      <p:ext uri="{BB962C8B-B14F-4D97-AF65-F5344CB8AC3E}">
        <p14:creationId xmlns:p14="http://schemas.microsoft.com/office/powerpoint/2010/main" val="30239324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2AB481-6B5A-B3AC-7150-F922ED1E9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155310"/>
            <a:ext cx="9905998" cy="1478570"/>
          </a:xfrm>
        </p:spPr>
        <p:txBody>
          <a:bodyPr/>
          <a:lstStyle/>
          <a:p>
            <a:r>
              <a:rPr lang="en-US" b="1" dirty="0"/>
              <a:t>Research Aim and Objectives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66D603C-96C3-19AB-7121-F24B3C700615}"/>
              </a:ext>
            </a:extLst>
          </p:cNvPr>
          <p:cNvSpPr txBox="1"/>
          <p:nvPr/>
        </p:nvSpPr>
        <p:spPr>
          <a:xfrm>
            <a:off x="619541" y="2369158"/>
            <a:ext cx="331138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/>
              <a:t>Improve anomaly detection with limited labeled data 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397F9E-DADF-4C7A-886B-038F9E264BCF}"/>
              </a:ext>
            </a:extLst>
          </p:cNvPr>
          <p:cNvSpPr txBox="1"/>
          <p:nvPr/>
        </p:nvSpPr>
        <p:spPr>
          <a:xfrm>
            <a:off x="4110658" y="1941574"/>
            <a:ext cx="3096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2"/>
            </a:pPr>
            <a:r>
              <a:rPr lang="en-US" dirty="0"/>
              <a:t>Enable fast adaptation to new or evolving anomalies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76D731-40B4-2894-9E74-992EB79EC448}"/>
              </a:ext>
            </a:extLst>
          </p:cNvPr>
          <p:cNvSpPr txBox="1"/>
          <p:nvPr/>
        </p:nvSpPr>
        <p:spPr>
          <a:xfrm>
            <a:off x="7860196" y="2045992"/>
            <a:ext cx="3548271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3"/>
            </a:pPr>
            <a:r>
              <a:rPr lang="en-US" dirty="0"/>
              <a:t>Ensure scalability and efficiency in edge devices with reinforcement learning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4871DF-F6E8-61CD-A80A-61D03874F5AB}"/>
              </a:ext>
            </a:extLst>
          </p:cNvPr>
          <p:cNvSpPr txBox="1"/>
          <p:nvPr/>
        </p:nvSpPr>
        <p:spPr>
          <a:xfrm>
            <a:off x="1875181" y="4892891"/>
            <a:ext cx="309603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4"/>
            </a:pPr>
            <a:r>
              <a:rPr lang="en-US" dirty="0"/>
              <a:t>Reduce dependence on large centralized systems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B065BD-2645-D205-A897-0C27FF180F74}"/>
              </a:ext>
            </a:extLst>
          </p:cNvPr>
          <p:cNvSpPr txBox="1"/>
          <p:nvPr/>
        </p:nvSpPr>
        <p:spPr>
          <a:xfrm>
            <a:off x="6475345" y="4985657"/>
            <a:ext cx="42854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 startAt="5"/>
            </a:pPr>
            <a:r>
              <a:rPr lang="en-US" dirty="0"/>
              <a:t>Demonstrate real-world applicability through experiments and comparisons </a:t>
            </a:r>
          </a:p>
        </p:txBody>
      </p:sp>
      <p:sp>
        <p:nvSpPr>
          <p:cNvPr id="20" name="Cloud 19">
            <a:extLst>
              <a:ext uri="{FF2B5EF4-FFF2-40B4-BE49-F238E27FC236}">
                <a16:creationId xmlns:a16="http://schemas.microsoft.com/office/drawing/2014/main" id="{C9C173B6-7075-9175-71D8-5AA4C8A9EB90}"/>
              </a:ext>
            </a:extLst>
          </p:cNvPr>
          <p:cNvSpPr/>
          <p:nvPr/>
        </p:nvSpPr>
        <p:spPr>
          <a:xfrm>
            <a:off x="1802295" y="2895600"/>
            <a:ext cx="7712767" cy="1997291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/>
            <a:r>
              <a:rPr lang="en-US" dirty="0"/>
              <a:t>To design a </a:t>
            </a:r>
            <a:r>
              <a:rPr lang="en-US" b="1" dirty="0"/>
              <a:t>scalable, adaptive, and data-efficient anomaly detection framework</a:t>
            </a:r>
            <a:r>
              <a:rPr lang="en-US" dirty="0"/>
              <a:t> for edge-based IIoT using </a:t>
            </a:r>
            <a:r>
              <a:rPr lang="en-US" b="1" dirty="0"/>
              <a:t>Self-Supervised Learning (SSL)</a:t>
            </a:r>
            <a:r>
              <a:rPr lang="en-US" dirty="0"/>
              <a:t>, </a:t>
            </a:r>
            <a:r>
              <a:rPr lang="en-US" b="1" dirty="0"/>
              <a:t>Few-Shot Learning (FSL)</a:t>
            </a:r>
            <a:r>
              <a:rPr lang="en-US" dirty="0"/>
              <a:t>, and </a:t>
            </a:r>
            <a:r>
              <a:rPr lang="en-US" b="1" dirty="0"/>
              <a:t>Reinforcement Learning (RL)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13636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FE50E-214C-F012-D483-8057B4208F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Proposed SSL + FSL + RL Framework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72E1B5-75E3-45D0-0F74-1C08C797EE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1323" y="2581696"/>
            <a:ext cx="3196899" cy="685800"/>
          </a:xfrm>
        </p:spPr>
        <p:txBody>
          <a:bodyPr/>
          <a:lstStyle/>
          <a:p>
            <a:r>
              <a:rPr lang="en-US" dirty="0"/>
              <a:t>Self-Supervised Learning (SSL)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340E26-2FAA-B19A-E7C4-28EFC5509149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97831" y="3267496"/>
            <a:ext cx="3208735" cy="243093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Learns robust feature representations from </a:t>
            </a:r>
            <a:r>
              <a:rPr lang="en-US" i="1" dirty="0"/>
              <a:t>unlabeled data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AC78B7-703F-5857-595A-614BE3FBFB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236470" y="2581696"/>
            <a:ext cx="3184385" cy="685800"/>
          </a:xfrm>
        </p:spPr>
        <p:txBody>
          <a:bodyPr/>
          <a:lstStyle/>
          <a:p>
            <a:r>
              <a:rPr lang="en-US" dirty="0"/>
              <a:t>Few-Shot Learning (FSL)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A603F2C7-FE60-7592-2AF6-D72F99C87822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4225917" y="3267496"/>
            <a:ext cx="3195830" cy="243093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Classifies anomalies with minimal labeled samples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Handles rare or novel anomalies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9AD5941-5575-F6C7-0513-29845C729E0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226923" y="2581696"/>
            <a:ext cx="3194968" cy="685800"/>
          </a:xfrm>
        </p:spPr>
        <p:txBody>
          <a:bodyPr/>
          <a:lstStyle/>
          <a:p>
            <a:r>
              <a:rPr lang="en-US" dirty="0"/>
              <a:t>Reinforcement Learning (RL)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8C5D165-FC87-F975-41A3-765F3E38EC6D}"/>
              </a:ext>
            </a:extLst>
          </p:cNvPr>
          <p:cNvSpPr>
            <a:spLocks noGrp="1"/>
          </p:cNvSpPr>
          <p:nvPr>
            <p:ph type="body" sz="half" idx="17"/>
          </p:nvPr>
        </p:nvSpPr>
        <p:spPr>
          <a:xfrm>
            <a:off x="8226922" y="3267496"/>
            <a:ext cx="3414369" cy="2430936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Provides continuous adaptation over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Optimizes decisions (e.g., update prototypes, request feedback, detect new classes)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6FE635BF-814F-C5E6-11E0-73BCB467D5E6}"/>
              </a:ext>
            </a:extLst>
          </p:cNvPr>
          <p:cNvSpPr txBox="1">
            <a:spLocks/>
          </p:cNvSpPr>
          <p:nvPr/>
        </p:nvSpPr>
        <p:spPr>
          <a:xfrm>
            <a:off x="1735292" y="4727712"/>
            <a:ext cx="9905999" cy="1378225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None/>
              <a:defRPr sz="2400" b="0" kern="1200" cap="all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20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8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Benefits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0" dirty="0"/>
              <a:t>Data-efficient (uses fewer labels)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0" dirty="0"/>
              <a:t>Scalable (smaller model size)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b="0" dirty="0"/>
              <a:t>Adaptive (learns continuously at the edge)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75419BF0-F635-71C8-C52A-959A9B94EF6F}"/>
              </a:ext>
            </a:extLst>
          </p:cNvPr>
          <p:cNvSpPr/>
          <p:nvPr/>
        </p:nvSpPr>
        <p:spPr>
          <a:xfrm>
            <a:off x="7420855" y="2711726"/>
            <a:ext cx="649357" cy="4257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Arrow: Right 17">
            <a:extLst>
              <a:ext uri="{FF2B5EF4-FFF2-40B4-BE49-F238E27FC236}">
                <a16:creationId xmlns:a16="http://schemas.microsoft.com/office/drawing/2014/main" id="{2A25F43C-38B9-EC32-E416-6590348233EB}"/>
              </a:ext>
            </a:extLst>
          </p:cNvPr>
          <p:cNvSpPr/>
          <p:nvPr/>
        </p:nvSpPr>
        <p:spPr>
          <a:xfrm>
            <a:off x="3367712" y="2678178"/>
            <a:ext cx="649357" cy="42574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 descr="A street sign with different directions&#10;&#10;AI-generated content may be incorrect.">
            <a:extLst>
              <a:ext uri="{FF2B5EF4-FFF2-40B4-BE49-F238E27FC236}">
                <a16:creationId xmlns:a16="http://schemas.microsoft.com/office/drawing/2014/main" id="{F5CBE2DA-4BE2-08E1-EEFF-59732EADD6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686260" y="4801434"/>
            <a:ext cx="2173357" cy="1358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203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5F7D5-0EBB-75DE-375A-70AF34877D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7242" y="592276"/>
            <a:ext cx="8791575" cy="891967"/>
          </a:xfrm>
        </p:spPr>
        <p:txBody>
          <a:bodyPr/>
          <a:lstStyle/>
          <a:p>
            <a:r>
              <a:rPr lang="en-US" b="1" dirty="0"/>
              <a:t>Research Methodology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242EE6-256D-13E6-5385-32DB7A92228F}"/>
              </a:ext>
            </a:extLst>
          </p:cNvPr>
          <p:cNvSpPr txBox="1"/>
          <p:nvPr/>
        </p:nvSpPr>
        <p:spPr>
          <a:xfrm>
            <a:off x="2256801" y="2225861"/>
            <a:ext cx="442622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1. Data Acquisition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SOLDEF PCB dataset (defect detection)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Synthetic IIoT data via simulations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Preprocessing: normalization, noise filtering, semi-automated labeling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Dataset citation:</a:t>
            </a:r>
          </a:p>
          <a:p>
            <a:r>
              <a:rPr lang="en-US" dirty="0">
                <a:hlinkClick r:id="rId3"/>
              </a:rPr>
              <a:t>https://www.mdpi.com/2504-4494/8/3/117</a:t>
            </a:r>
            <a:r>
              <a:rPr lang="en-US" dirty="0"/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C93069-17EF-7698-5C1D-75E5C341D2BF}"/>
              </a:ext>
            </a:extLst>
          </p:cNvPr>
          <p:cNvSpPr txBox="1"/>
          <p:nvPr/>
        </p:nvSpPr>
        <p:spPr>
          <a:xfrm>
            <a:off x="7096539" y="2225861"/>
            <a:ext cx="442622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2. Model Development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SSL:</a:t>
            </a:r>
            <a:r>
              <a:rPr lang="en-US" dirty="0"/>
              <a:t> Contrastive learning for feature representation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FSL:</a:t>
            </a:r>
            <a:r>
              <a:rPr lang="en-US" dirty="0"/>
              <a:t> Prototypical networks for few-shot classification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RL:</a:t>
            </a:r>
            <a:r>
              <a:rPr lang="en-US" dirty="0"/>
              <a:t> Q-learning for continual adaptation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B07E19-E959-A921-47DD-3335DB812484}"/>
              </a:ext>
            </a:extLst>
          </p:cNvPr>
          <p:cNvSpPr txBox="1"/>
          <p:nvPr/>
        </p:nvSpPr>
        <p:spPr>
          <a:xfrm>
            <a:off x="2256800" y="4536680"/>
            <a:ext cx="44262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3. Experiment Setup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Simulated edge environments using Docker (CPU &amp; memory limits)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Consumer-grade GPUs/CPUs for training/testing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AF3D730-80B4-7B56-9ACA-2792E1F2D3C7}"/>
              </a:ext>
            </a:extLst>
          </p:cNvPr>
          <p:cNvSpPr txBox="1"/>
          <p:nvPr/>
        </p:nvSpPr>
        <p:spPr>
          <a:xfrm>
            <a:off x="7096539" y="4536680"/>
            <a:ext cx="442622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4. Evaluation Metrics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Accuracy, Precision, Recall, F1-score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Training time &amp; computational efficiency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Scalability &amp; adaptability under edge constraints</a:t>
            </a:r>
          </a:p>
        </p:txBody>
      </p:sp>
    </p:spTree>
    <p:extLst>
      <p:ext uri="{BB962C8B-B14F-4D97-AF65-F5344CB8AC3E}">
        <p14:creationId xmlns:p14="http://schemas.microsoft.com/office/powerpoint/2010/main" val="5848454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61619-116B-7241-64AB-81FF3A28D1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Results – CNN vs SSL + FSL + RL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4427D41-2FB3-FF3C-9E9A-E93D06CD0EE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77598884"/>
              </p:ext>
            </p:extLst>
          </p:nvPr>
        </p:nvGraphicFramePr>
        <p:xfrm>
          <a:off x="1141413" y="2249488"/>
          <a:ext cx="990600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4761">
                  <a:extLst>
                    <a:ext uri="{9D8B030D-6E8A-4147-A177-3AD203B41FA5}">
                      <a16:colId xmlns:a16="http://schemas.microsoft.com/office/drawing/2014/main" val="1822720321"/>
                    </a:ext>
                  </a:extLst>
                </a:gridCol>
                <a:gridCol w="2425148">
                  <a:extLst>
                    <a:ext uri="{9D8B030D-6E8A-4147-A177-3AD203B41FA5}">
                      <a16:colId xmlns:a16="http://schemas.microsoft.com/office/drawing/2014/main" val="151283079"/>
                    </a:ext>
                  </a:extLst>
                </a:gridCol>
                <a:gridCol w="5276091">
                  <a:extLst>
                    <a:ext uri="{9D8B030D-6E8A-4147-A177-3AD203B41FA5}">
                      <a16:colId xmlns:a16="http://schemas.microsoft.com/office/drawing/2014/main" val="173363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SG" dirty="0"/>
                        <a:t>CNN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SG" dirty="0"/>
                        <a:t>SSL + FSL + RL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78826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SG" dirty="0"/>
                        <a:t>78.0%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72.5% (~93% of CNN performance)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7766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Labeling Efficiency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252 labeled samples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32 labeled samples (87% reduction)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228061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Training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~15 minutes (CPU)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&lt;1 minute (CPU)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21264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Model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42.6 MB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11.7 MB (3.6× smaller)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39595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B5DB3246-D084-3A91-1F40-3FFD615D55AD}"/>
              </a:ext>
            </a:extLst>
          </p:cNvPr>
          <p:cNvSpPr txBox="1"/>
          <p:nvPr/>
        </p:nvSpPr>
        <p:spPr>
          <a:xfrm>
            <a:off x="1141413" y="4483412"/>
            <a:ext cx="610262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For more details:</a:t>
            </a:r>
          </a:p>
          <a:p>
            <a:r>
              <a:rPr lang="en-US" dirty="0">
                <a:hlinkClick r:id="rId3"/>
              </a:rPr>
              <a:t>https://github.com/Daavidng/project/blob/main/README.md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051059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79D0A-6B6A-2619-C222-52ECB36A1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E68E5-21FC-93FB-51DD-E1DA0A800E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534461"/>
            <a:ext cx="10798796" cy="1478570"/>
          </a:xfrm>
        </p:spPr>
        <p:txBody>
          <a:bodyPr/>
          <a:lstStyle/>
          <a:p>
            <a:r>
              <a:rPr lang="en-US" b="1" dirty="0"/>
              <a:t>Research Limitations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AFCAE-4AD4-1FF9-4E76-AA1D122F1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3811" y="1788509"/>
            <a:ext cx="9905999" cy="4854116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Dataset Constraints</a:t>
            </a:r>
          </a:p>
          <a:p>
            <a:pPr lvl="1"/>
            <a:r>
              <a:rPr lang="en-US" dirty="0"/>
              <a:t>Evaluated mainly on one dataset (PCB defects)</a:t>
            </a:r>
          </a:p>
          <a:p>
            <a:pPr lvl="1"/>
            <a:r>
              <a:rPr lang="en-US" dirty="0"/>
              <a:t>Generalization to other IIoT domains still uncertain</a:t>
            </a:r>
          </a:p>
          <a:p>
            <a:r>
              <a:rPr lang="en-US" dirty="0"/>
              <a:t>Training Setup</a:t>
            </a:r>
          </a:p>
          <a:p>
            <a:pPr lvl="1"/>
            <a:r>
              <a:rPr lang="en-US" dirty="0"/>
              <a:t>SSL pretraining limited (short epochs)</a:t>
            </a:r>
          </a:p>
          <a:p>
            <a:pPr lvl="1"/>
            <a:r>
              <a:rPr lang="en-US" dirty="0"/>
              <a:t>Few-shot setup fixed (5–8 shots per class)</a:t>
            </a:r>
          </a:p>
          <a:p>
            <a:r>
              <a:rPr lang="en-US" dirty="0"/>
              <a:t>Evaluation Environment</a:t>
            </a:r>
          </a:p>
          <a:p>
            <a:pPr lvl="1"/>
            <a:r>
              <a:rPr lang="en-US" dirty="0"/>
              <a:t>Tested in CPU + Docker simulations, not real edge hardware</a:t>
            </a:r>
          </a:p>
          <a:p>
            <a:pPr lvl="1"/>
            <a:r>
              <a:rPr lang="en-US" dirty="0"/>
              <a:t>Quantization impacts estimated, not fully measured</a:t>
            </a:r>
          </a:p>
          <a:p>
            <a:r>
              <a:rPr lang="en-US" dirty="0"/>
              <a:t>Metrics &amp; Scope</a:t>
            </a:r>
          </a:p>
          <a:p>
            <a:pPr lvl="1"/>
            <a:r>
              <a:rPr lang="en-US" dirty="0"/>
              <a:t>Long-term RL adaptation not yet tested under real distributional drift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9B0023D-03F4-AFD9-3CE2-0270EE71B5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8832201" y="646333"/>
            <a:ext cx="1672063" cy="1616079"/>
          </a:xfrm>
          <a:prstGeom prst="rect">
            <a:avLst/>
          </a:prstGeom>
        </p:spPr>
      </p:pic>
      <p:pic>
        <p:nvPicPr>
          <p:cNvPr id="10" name="Picture 9" descr="A close-up of a circuit board&#10;&#10;AI-generated content may be incorrect.">
            <a:extLst>
              <a:ext uri="{FF2B5EF4-FFF2-40B4-BE49-F238E27FC236}">
                <a16:creationId xmlns:a16="http://schemas.microsoft.com/office/drawing/2014/main" id="{7FBC96B8-B681-24F8-FE83-954109E83FE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8650574" y="3729169"/>
            <a:ext cx="2571907" cy="1446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81376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6122-F32A-8A77-D5E6-1892F19C8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Conclusion &amp;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F109D8-E270-F9DF-BF76-85E90F48F8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0" y="2249485"/>
            <a:ext cx="4878389" cy="4279783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u="sng" dirty="0"/>
              <a:t>Conclusion</a:t>
            </a:r>
            <a:r>
              <a:rPr lang="en-US" u="sng" dirty="0"/>
              <a:t> </a:t>
            </a:r>
          </a:p>
          <a:p>
            <a:r>
              <a:rPr lang="en-US" dirty="0"/>
              <a:t>SSL + FSL + RL framework → </a:t>
            </a:r>
            <a:r>
              <a:rPr lang="en-US" b="1" dirty="0"/>
              <a:t>72.5% accuracy</a:t>
            </a:r>
            <a:r>
              <a:rPr lang="en-US" dirty="0"/>
              <a:t>, close to CNN (78%)</a:t>
            </a:r>
          </a:p>
          <a:p>
            <a:r>
              <a:rPr lang="en-US" dirty="0"/>
              <a:t>Requires </a:t>
            </a:r>
            <a:r>
              <a:rPr lang="en-US" b="1" dirty="0"/>
              <a:t>87% fewer labels</a:t>
            </a:r>
            <a:r>
              <a:rPr lang="en-US" dirty="0"/>
              <a:t> (32 vs 252)</a:t>
            </a:r>
          </a:p>
          <a:p>
            <a:r>
              <a:rPr lang="en-US" b="1" dirty="0"/>
              <a:t>3.6× smaller</a:t>
            </a:r>
            <a:r>
              <a:rPr lang="en-US" dirty="0"/>
              <a:t> model, </a:t>
            </a:r>
            <a:r>
              <a:rPr lang="en-US" b="1" dirty="0"/>
              <a:t>15× faster training</a:t>
            </a:r>
            <a:endParaRPr lang="en-US" dirty="0"/>
          </a:p>
          <a:p>
            <a:r>
              <a:rPr lang="en-US" dirty="0"/>
              <a:t>RL enables </a:t>
            </a:r>
            <a:r>
              <a:rPr lang="en-US" b="1" dirty="0"/>
              <a:t>continual adaptation</a:t>
            </a:r>
            <a:r>
              <a:rPr lang="en-US" dirty="0"/>
              <a:t> to new anomalies</a:t>
            </a:r>
          </a:p>
          <a:p>
            <a:r>
              <a:rPr lang="en-US" dirty="0"/>
              <a:t>Practical for </a:t>
            </a:r>
            <a:r>
              <a:rPr lang="en-US" b="1" dirty="0"/>
              <a:t>resource-constrained edge IIoT systems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638332-045E-EE59-E6C1-80A6B86FD7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427978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u="sng" dirty="0"/>
              <a:t>Future Work</a:t>
            </a:r>
          </a:p>
          <a:p>
            <a:r>
              <a:rPr lang="en-US" dirty="0"/>
              <a:t>Extend </a:t>
            </a:r>
            <a:r>
              <a:rPr lang="en-US" b="1" dirty="0"/>
              <a:t>SSL pretraining </a:t>
            </a:r>
            <a:r>
              <a:rPr lang="en-US" dirty="0"/>
              <a:t>and explore new methods </a:t>
            </a:r>
          </a:p>
          <a:p>
            <a:r>
              <a:rPr lang="en-US" dirty="0"/>
              <a:t>Conduct </a:t>
            </a:r>
            <a:r>
              <a:rPr lang="en-US" b="1" dirty="0"/>
              <a:t>systematic</a:t>
            </a:r>
            <a:r>
              <a:rPr lang="en-US" dirty="0"/>
              <a:t> experiments </a:t>
            </a:r>
          </a:p>
          <a:p>
            <a:r>
              <a:rPr lang="en-US" dirty="0"/>
              <a:t>Validate on </a:t>
            </a:r>
            <a:r>
              <a:rPr lang="en-US" b="1" dirty="0"/>
              <a:t>real edge hardware </a:t>
            </a:r>
            <a:r>
              <a:rPr lang="en-US" dirty="0"/>
              <a:t>(Raspberry Pi, Jetson Nano)</a:t>
            </a:r>
          </a:p>
          <a:p>
            <a:r>
              <a:rPr lang="en-US" dirty="0"/>
              <a:t>Apply </a:t>
            </a:r>
            <a:r>
              <a:rPr lang="en-US" b="1" dirty="0"/>
              <a:t>compression</a:t>
            </a:r>
            <a:r>
              <a:rPr lang="en-US" dirty="0"/>
              <a:t> (quantization-aware training, pruning)</a:t>
            </a:r>
          </a:p>
          <a:p>
            <a:r>
              <a:rPr lang="en-US" dirty="0"/>
              <a:t>Test </a:t>
            </a:r>
            <a:r>
              <a:rPr lang="en-US" b="1" dirty="0"/>
              <a:t>long-term RL adaptation </a:t>
            </a:r>
            <a:r>
              <a:rPr lang="en-US" dirty="0"/>
              <a:t>with human-in-the-loop</a:t>
            </a:r>
          </a:p>
        </p:txBody>
      </p:sp>
      <p:pic>
        <p:nvPicPr>
          <p:cNvPr id="12" name="Picture 11" descr="A group of wooden tiles with letters on them&#10;&#10;AI-generated content may be incorrect.">
            <a:extLst>
              <a:ext uri="{FF2B5EF4-FFF2-40B4-BE49-F238E27FC236}">
                <a16:creationId xmlns:a16="http://schemas.microsoft.com/office/drawing/2014/main" id="{9151CE00-AF11-31F2-DBE5-117FE78AEC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929381" y="687125"/>
            <a:ext cx="1950720" cy="1301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1457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E2014-FFD0-CFF3-74A4-28C8F7FA1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2568230"/>
            <a:ext cx="9905998" cy="1478570"/>
          </a:xfrm>
        </p:spPr>
        <p:txBody>
          <a:bodyPr>
            <a:normAutofit/>
          </a:bodyPr>
          <a:lstStyle/>
          <a:p>
            <a:pPr algn="ctr"/>
            <a:r>
              <a:rPr lang="en-US" sz="6900" i="1" dirty="0"/>
              <a:t>Q&amp;A</a:t>
            </a:r>
            <a:endParaRPr lang="en-US" sz="6900" dirty="0"/>
          </a:p>
        </p:txBody>
      </p:sp>
      <p:pic>
        <p:nvPicPr>
          <p:cNvPr id="3" name="Picture 2" descr="A logo of a globe with yellow rings around it&#10;&#10;Description automatically generated">
            <a:extLst>
              <a:ext uri="{FF2B5EF4-FFF2-40B4-BE49-F238E27FC236}">
                <a16:creationId xmlns:a16="http://schemas.microsoft.com/office/drawing/2014/main" id="{B41791E5-27A1-2C93-8FCC-2D3073CD748D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66" r="4610"/>
          <a:stretch>
            <a:fillRect/>
          </a:stretch>
        </p:blipFill>
        <p:spPr bwMode="auto">
          <a:xfrm>
            <a:off x="10317706" y="91806"/>
            <a:ext cx="1684269" cy="1636675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94754088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77210f24a1be23c92c90fd886aa0aa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60e05723c5c1908df1a1a4ebf11d344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C41CBB0-BAA0-4983-8F2B-E10AF3358DA8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E096F0E7-E7B5-406E-8E94-F0043B2AC7F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04C6BCC-A38B-4625-90E6-7D3BBA3909A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Circuit design</Template>
  <TotalTime>405</TotalTime>
  <Words>785</Words>
  <Application>Microsoft Office PowerPoint</Application>
  <PresentationFormat>Widescreen</PresentationFormat>
  <Paragraphs>123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Tw Cen MT</vt:lpstr>
      <vt:lpstr>Circuit</vt:lpstr>
      <vt:lpstr>Self-Supervised Few-Shot  Reinforcement Learning  for Scalable and Adaptive  Anomaly Detection in  Edge-Based Industrial IoT Systems</vt:lpstr>
      <vt:lpstr>Industrial IoT (IIoT) and Anomaly Detection</vt:lpstr>
      <vt:lpstr>Challenges in Current IIoT Anomaly Detection</vt:lpstr>
      <vt:lpstr>Key Research Questions</vt:lpstr>
      <vt:lpstr>Research Aim and Objectives</vt:lpstr>
      <vt:lpstr>Proposed SSL + FSL + RL Framework</vt:lpstr>
      <vt:lpstr>Research Methodology</vt:lpstr>
      <vt:lpstr>Results – CNN vs SSL + FSL + RL</vt:lpstr>
      <vt:lpstr>Research Limitations</vt:lpstr>
      <vt:lpstr>Conclusion &amp; Future Work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 KIEN LOONG</dc:creator>
  <cp:lastModifiedBy>NG KIEN LOONG</cp:lastModifiedBy>
  <cp:revision>21</cp:revision>
  <dcterms:created xsi:type="dcterms:W3CDTF">2025-09-28T11:42:51Z</dcterms:created>
  <dcterms:modified xsi:type="dcterms:W3CDTF">2025-09-28T18:50:45Z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